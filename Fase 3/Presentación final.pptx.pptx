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" charset="1" panose="020F0502020204030204"/>
      <p:regular r:id="rId20"/>
    </p:embeddedFont>
    <p:embeddedFont>
      <p:font typeface="Calibri (MS) Bold" charset="1" panose="020F0702030404030204"/>
      <p:regular r:id="rId21"/>
    </p:embeddedFont>
    <p:embeddedFont>
      <p:font typeface="Ubuntu Bold" charset="1" panose="020B0804030602030204"/>
      <p:regular r:id="rId22"/>
    </p:embeddedFont>
    <p:embeddedFont>
      <p:font typeface="Open Sans" charset="1" panose="00000000000000000000"/>
      <p:regular r:id="rId23"/>
    </p:embeddedFont>
    <p:embeddedFont>
      <p:font typeface="Arimo" charset="1" panose="020B0604020202020204"/>
      <p:regular r:id="rId24"/>
    </p:embeddedFont>
    <p:embeddedFont>
      <p:font typeface="Montserrat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https://webavicolaapp.web.app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1" y="3964533"/>
            <a:ext cx="1810511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“AvicolApp”</a:t>
            </a:r>
          </a:p>
          <a:p>
            <a:pPr algn="ctr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PRESENTACIÓN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81539" y="2566228"/>
            <a:ext cx="11450241" cy="2039322"/>
            <a:chOff x="0" y="0"/>
            <a:chExt cx="15266988" cy="2719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66924" cy="2719070"/>
            </a:xfrm>
            <a:custGeom>
              <a:avLst/>
              <a:gdLst/>
              <a:ahLst/>
              <a:cxnLst/>
              <a:rect r="r" b="b" t="t" l="l"/>
              <a:pathLst>
                <a:path h="2719070" w="15266924">
                  <a:moveTo>
                    <a:pt x="0" y="271907"/>
                  </a:moveTo>
                  <a:cubicBezTo>
                    <a:pt x="0" y="121793"/>
                    <a:pt x="121793" y="0"/>
                    <a:pt x="271907" y="0"/>
                  </a:cubicBezTo>
                  <a:lnTo>
                    <a:pt x="14995018" y="0"/>
                  </a:lnTo>
                  <a:cubicBezTo>
                    <a:pt x="15145131" y="0"/>
                    <a:pt x="15266924" y="121793"/>
                    <a:pt x="15266924" y="271907"/>
                  </a:cubicBezTo>
                  <a:lnTo>
                    <a:pt x="15266924" y="2447163"/>
                  </a:lnTo>
                  <a:cubicBezTo>
                    <a:pt x="15266924" y="2597277"/>
                    <a:pt x="15145131" y="2719070"/>
                    <a:pt x="14995018" y="2719070"/>
                  </a:cubicBezTo>
                  <a:lnTo>
                    <a:pt x="271907" y="2719070"/>
                  </a:lnTo>
                  <a:cubicBezTo>
                    <a:pt x="121793" y="2719070"/>
                    <a:pt x="0" y="2597404"/>
                    <a:pt x="0" y="244716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2A7DB">
                    <a:alpha val="100000"/>
                  </a:srgbClr>
                </a:gs>
                <a:gs pos="50000">
                  <a:srgbClr val="559BDB">
                    <a:alpha val="100000"/>
                  </a:srgbClr>
                </a:gs>
                <a:gs pos="100000">
                  <a:srgbClr val="448AC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70756" y="2561466"/>
            <a:ext cx="8965785" cy="1603248"/>
            <a:chOff x="0" y="0"/>
            <a:chExt cx="11954380" cy="21376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54380" cy="2137664"/>
            </a:xfrm>
            <a:custGeom>
              <a:avLst/>
              <a:gdLst/>
              <a:ahLst/>
              <a:cxnLst/>
              <a:rect r="r" b="b" t="t" l="l"/>
              <a:pathLst>
                <a:path h="2137664" w="11954380">
                  <a:moveTo>
                    <a:pt x="0" y="0"/>
                  </a:moveTo>
                  <a:lnTo>
                    <a:pt x="11954380" y="0"/>
                  </a:lnTo>
                  <a:lnTo>
                    <a:pt x="11954380" y="2137664"/>
                  </a:lnTo>
                  <a:lnTo>
                    <a:pt x="0" y="2137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13896" r="0" b="-1389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32080" y="93980"/>
              <a:ext cx="11690220" cy="1911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3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Arturo Rojas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 Owner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Desarrollador Movil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85470" y="2770160"/>
            <a:ext cx="2290047" cy="1631457"/>
            <a:chOff x="0" y="0"/>
            <a:chExt cx="3053396" cy="21752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53461" cy="2175256"/>
            </a:xfrm>
            <a:custGeom>
              <a:avLst/>
              <a:gdLst/>
              <a:ahLst/>
              <a:cxnLst/>
              <a:rect r="r" b="b" t="t" l="l"/>
              <a:pathLst>
                <a:path h="2175256" w="3053461">
                  <a:moveTo>
                    <a:pt x="0" y="217551"/>
                  </a:moveTo>
                  <a:cubicBezTo>
                    <a:pt x="0" y="97409"/>
                    <a:pt x="97409" y="0"/>
                    <a:pt x="217551" y="0"/>
                  </a:cubicBezTo>
                  <a:lnTo>
                    <a:pt x="2835910" y="0"/>
                  </a:lnTo>
                  <a:cubicBezTo>
                    <a:pt x="2956052" y="0"/>
                    <a:pt x="3053461" y="97409"/>
                    <a:pt x="3053461" y="217551"/>
                  </a:cubicBezTo>
                  <a:lnTo>
                    <a:pt x="3053461" y="1957705"/>
                  </a:lnTo>
                  <a:cubicBezTo>
                    <a:pt x="3053461" y="2077847"/>
                    <a:pt x="2956052" y="2175256"/>
                    <a:pt x="2835910" y="2175256"/>
                  </a:cubicBezTo>
                  <a:lnTo>
                    <a:pt x="217551" y="2175256"/>
                  </a:lnTo>
                  <a:cubicBezTo>
                    <a:pt x="97409" y="2175256"/>
                    <a:pt x="0" y="2077847"/>
                    <a:pt x="0" y="1957705"/>
                  </a:cubicBezTo>
                  <a:close/>
                </a:path>
              </a:pathLst>
            </a:custGeom>
            <a:solidFill>
              <a:srgbClr val="C4D5E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181539" y="4809482"/>
            <a:ext cx="11450241" cy="2039322"/>
            <a:chOff x="0" y="0"/>
            <a:chExt cx="15266988" cy="27190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66924" cy="2719070"/>
            </a:xfrm>
            <a:custGeom>
              <a:avLst/>
              <a:gdLst/>
              <a:ahLst/>
              <a:cxnLst/>
              <a:rect r="r" b="b" t="t" l="l"/>
              <a:pathLst>
                <a:path h="2719070" w="15266924">
                  <a:moveTo>
                    <a:pt x="0" y="271907"/>
                  </a:moveTo>
                  <a:cubicBezTo>
                    <a:pt x="0" y="121793"/>
                    <a:pt x="121793" y="0"/>
                    <a:pt x="271907" y="0"/>
                  </a:cubicBezTo>
                  <a:lnTo>
                    <a:pt x="14995018" y="0"/>
                  </a:lnTo>
                  <a:cubicBezTo>
                    <a:pt x="15145131" y="0"/>
                    <a:pt x="15266924" y="121793"/>
                    <a:pt x="15266924" y="271907"/>
                  </a:cubicBezTo>
                  <a:lnTo>
                    <a:pt x="15266924" y="2447163"/>
                  </a:lnTo>
                  <a:cubicBezTo>
                    <a:pt x="15266924" y="2597277"/>
                    <a:pt x="15145131" y="2719070"/>
                    <a:pt x="14995018" y="2719070"/>
                  </a:cubicBezTo>
                  <a:lnTo>
                    <a:pt x="271907" y="2719070"/>
                  </a:lnTo>
                  <a:cubicBezTo>
                    <a:pt x="121793" y="2719070"/>
                    <a:pt x="0" y="2597404"/>
                    <a:pt x="0" y="244716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2A7DB">
                    <a:alpha val="100000"/>
                  </a:srgbClr>
                </a:gs>
                <a:gs pos="50000">
                  <a:srgbClr val="559BDB">
                    <a:alpha val="100000"/>
                  </a:srgbClr>
                </a:gs>
                <a:gs pos="100000">
                  <a:srgbClr val="448AC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670756" y="4804719"/>
            <a:ext cx="8965785" cy="1603248"/>
            <a:chOff x="0" y="0"/>
            <a:chExt cx="11954380" cy="21376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954380" cy="2137664"/>
            </a:xfrm>
            <a:custGeom>
              <a:avLst/>
              <a:gdLst/>
              <a:ahLst/>
              <a:cxnLst/>
              <a:rect r="r" b="b" t="t" l="l"/>
              <a:pathLst>
                <a:path h="2137664" w="11954380">
                  <a:moveTo>
                    <a:pt x="0" y="0"/>
                  </a:moveTo>
                  <a:lnTo>
                    <a:pt x="11954380" y="0"/>
                  </a:lnTo>
                  <a:lnTo>
                    <a:pt x="11954380" y="2137664"/>
                  </a:lnTo>
                  <a:lnTo>
                    <a:pt x="0" y="2137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13896" r="0" b="-138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32080" y="93980"/>
              <a:ext cx="11690220" cy="1911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3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David Mardones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Desarrollador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 de Datos y Backend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385470" y="5013414"/>
            <a:ext cx="2290047" cy="1631457"/>
            <a:chOff x="0" y="0"/>
            <a:chExt cx="3053396" cy="21752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53461" cy="2175256"/>
            </a:xfrm>
            <a:custGeom>
              <a:avLst/>
              <a:gdLst/>
              <a:ahLst/>
              <a:cxnLst/>
              <a:rect r="r" b="b" t="t" l="l"/>
              <a:pathLst>
                <a:path h="2175256" w="3053461">
                  <a:moveTo>
                    <a:pt x="0" y="217551"/>
                  </a:moveTo>
                  <a:cubicBezTo>
                    <a:pt x="0" y="97409"/>
                    <a:pt x="97409" y="0"/>
                    <a:pt x="217551" y="0"/>
                  </a:cubicBezTo>
                  <a:lnTo>
                    <a:pt x="2835910" y="0"/>
                  </a:lnTo>
                  <a:cubicBezTo>
                    <a:pt x="2956052" y="0"/>
                    <a:pt x="3053461" y="97409"/>
                    <a:pt x="3053461" y="217551"/>
                  </a:cubicBezTo>
                  <a:lnTo>
                    <a:pt x="3053461" y="1957705"/>
                  </a:lnTo>
                  <a:cubicBezTo>
                    <a:pt x="3053461" y="2077847"/>
                    <a:pt x="2956052" y="2175256"/>
                    <a:pt x="2835910" y="2175256"/>
                  </a:cubicBezTo>
                  <a:lnTo>
                    <a:pt x="217551" y="2175256"/>
                  </a:lnTo>
                  <a:cubicBezTo>
                    <a:pt x="97409" y="2175256"/>
                    <a:pt x="0" y="2077847"/>
                    <a:pt x="0" y="1957705"/>
                  </a:cubicBezTo>
                  <a:close/>
                </a:path>
              </a:pathLst>
            </a:custGeom>
            <a:solidFill>
              <a:srgbClr val="C4D5E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181539" y="7052736"/>
            <a:ext cx="11450241" cy="2039322"/>
            <a:chOff x="0" y="0"/>
            <a:chExt cx="15266988" cy="27190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266924" cy="2719070"/>
            </a:xfrm>
            <a:custGeom>
              <a:avLst/>
              <a:gdLst/>
              <a:ahLst/>
              <a:cxnLst/>
              <a:rect r="r" b="b" t="t" l="l"/>
              <a:pathLst>
                <a:path h="2719070" w="15266924">
                  <a:moveTo>
                    <a:pt x="0" y="271907"/>
                  </a:moveTo>
                  <a:cubicBezTo>
                    <a:pt x="0" y="121793"/>
                    <a:pt x="121793" y="0"/>
                    <a:pt x="271907" y="0"/>
                  </a:cubicBezTo>
                  <a:lnTo>
                    <a:pt x="14995018" y="0"/>
                  </a:lnTo>
                  <a:cubicBezTo>
                    <a:pt x="15145131" y="0"/>
                    <a:pt x="15266924" y="121793"/>
                    <a:pt x="15266924" y="271907"/>
                  </a:cubicBezTo>
                  <a:lnTo>
                    <a:pt x="15266924" y="2447163"/>
                  </a:lnTo>
                  <a:cubicBezTo>
                    <a:pt x="15266924" y="2597277"/>
                    <a:pt x="15145131" y="2719070"/>
                    <a:pt x="14995018" y="2719070"/>
                  </a:cubicBezTo>
                  <a:lnTo>
                    <a:pt x="271907" y="2719070"/>
                  </a:lnTo>
                  <a:cubicBezTo>
                    <a:pt x="121793" y="2719070"/>
                    <a:pt x="0" y="2597404"/>
                    <a:pt x="0" y="2447163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2A7DB">
                    <a:alpha val="100000"/>
                  </a:srgbClr>
                </a:gs>
                <a:gs pos="50000">
                  <a:srgbClr val="559BDB">
                    <a:alpha val="100000"/>
                  </a:srgbClr>
                </a:gs>
                <a:gs pos="100000">
                  <a:srgbClr val="448AC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670756" y="7047973"/>
            <a:ext cx="8965785" cy="1603248"/>
            <a:chOff x="0" y="0"/>
            <a:chExt cx="11954380" cy="21376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54380" cy="2137664"/>
            </a:xfrm>
            <a:custGeom>
              <a:avLst/>
              <a:gdLst/>
              <a:ahLst/>
              <a:cxnLst/>
              <a:rect r="r" b="b" t="t" l="l"/>
              <a:pathLst>
                <a:path h="2137664" w="11954380">
                  <a:moveTo>
                    <a:pt x="0" y="0"/>
                  </a:moveTo>
                  <a:lnTo>
                    <a:pt x="11954380" y="0"/>
                  </a:lnTo>
                  <a:lnTo>
                    <a:pt x="11954380" y="2137664"/>
                  </a:lnTo>
                  <a:lnTo>
                    <a:pt x="0" y="21376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-13896" r="0" b="-1389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 rot="0">
              <a:off x="132080" y="93980"/>
              <a:ext cx="11690220" cy="19116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2"/>
                </a:lnSpc>
              </a:pPr>
              <a:r>
                <a:rPr lang="en-US" sz="3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Maria Morales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Scrum Master</a:t>
              </a:r>
            </a:p>
            <a:p>
              <a:pPr algn="l" marL="542925" indent="-180975" lvl="2">
                <a:lnSpc>
                  <a:spcPts val="324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 de Proyecto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85470" y="7256668"/>
            <a:ext cx="2290047" cy="1631457"/>
            <a:chOff x="0" y="0"/>
            <a:chExt cx="3053396" cy="21752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53461" cy="2175256"/>
            </a:xfrm>
            <a:custGeom>
              <a:avLst/>
              <a:gdLst/>
              <a:ahLst/>
              <a:cxnLst/>
              <a:rect r="r" b="b" t="t" l="l"/>
              <a:pathLst>
                <a:path h="2175256" w="3053461">
                  <a:moveTo>
                    <a:pt x="0" y="217551"/>
                  </a:moveTo>
                  <a:cubicBezTo>
                    <a:pt x="0" y="97409"/>
                    <a:pt x="97409" y="0"/>
                    <a:pt x="217551" y="0"/>
                  </a:cubicBezTo>
                  <a:lnTo>
                    <a:pt x="2835910" y="0"/>
                  </a:lnTo>
                  <a:cubicBezTo>
                    <a:pt x="2956052" y="0"/>
                    <a:pt x="3053461" y="97409"/>
                    <a:pt x="3053461" y="217551"/>
                  </a:cubicBezTo>
                  <a:lnTo>
                    <a:pt x="3053461" y="1957705"/>
                  </a:lnTo>
                  <a:cubicBezTo>
                    <a:pt x="3053461" y="2077847"/>
                    <a:pt x="2956052" y="2175256"/>
                    <a:pt x="2835910" y="2175256"/>
                  </a:cubicBezTo>
                  <a:lnTo>
                    <a:pt x="217551" y="2175256"/>
                  </a:lnTo>
                  <a:cubicBezTo>
                    <a:pt x="97409" y="2175256"/>
                    <a:pt x="0" y="2077847"/>
                    <a:pt x="0" y="1957705"/>
                  </a:cubicBezTo>
                  <a:close/>
                </a:path>
              </a:pathLst>
            </a:custGeom>
            <a:solidFill>
              <a:srgbClr val="C4D5E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“AvicolApp”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8930" y="4519344"/>
            <a:ext cx="5230562" cy="182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INTEGRANTES DEL PROYECTO</a:t>
            </a:r>
          </a:p>
        </p:txBody>
      </p:sp>
      <p:sp>
        <p:nvSpPr>
          <p:cNvPr name="AutoShape 27" id="27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“AvicolApp”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" y="1627694"/>
            <a:ext cx="18105118" cy="99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DESCRIPCIÓN DEL PROYECTO</a:t>
            </a:r>
          </a:p>
        </p:txBody>
      </p:sp>
      <p:sp>
        <p:nvSpPr>
          <p:cNvPr name="AutoShape 6" id="6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62312" y="3245129"/>
            <a:ext cx="7036791" cy="6157952"/>
            <a:chOff x="0" y="0"/>
            <a:chExt cx="9382388" cy="82106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3660" y="12700"/>
              <a:ext cx="9355129" cy="8185277"/>
            </a:xfrm>
            <a:custGeom>
              <a:avLst/>
              <a:gdLst/>
              <a:ahLst/>
              <a:cxnLst/>
              <a:rect r="r" b="b" t="t" l="l"/>
              <a:pathLst>
                <a:path h="8185277" w="9355129">
                  <a:moveTo>
                    <a:pt x="0" y="892302"/>
                  </a:moveTo>
                  <a:cubicBezTo>
                    <a:pt x="0" y="399542"/>
                    <a:pt x="429754" y="0"/>
                    <a:pt x="959911" y="0"/>
                  </a:cubicBezTo>
                  <a:lnTo>
                    <a:pt x="8395220" y="0"/>
                  </a:lnTo>
                  <a:cubicBezTo>
                    <a:pt x="8925377" y="0"/>
                    <a:pt x="9355129" y="399542"/>
                    <a:pt x="9355129" y="892302"/>
                  </a:cubicBezTo>
                  <a:lnTo>
                    <a:pt x="9355129" y="7292975"/>
                  </a:lnTo>
                  <a:cubicBezTo>
                    <a:pt x="9355129" y="7785735"/>
                    <a:pt x="8925377" y="8185277"/>
                    <a:pt x="8395220" y="8185277"/>
                  </a:cubicBezTo>
                  <a:lnTo>
                    <a:pt x="959911" y="8185277"/>
                  </a:lnTo>
                  <a:cubicBezTo>
                    <a:pt x="429754" y="8185150"/>
                    <a:pt x="0" y="7785735"/>
                    <a:pt x="0" y="729297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82446" cy="8210677"/>
            </a:xfrm>
            <a:custGeom>
              <a:avLst/>
              <a:gdLst/>
              <a:ahLst/>
              <a:cxnLst/>
              <a:rect r="r" b="b" t="t" l="l"/>
              <a:pathLst>
                <a:path h="8210677" w="9382446">
                  <a:moveTo>
                    <a:pt x="0" y="905002"/>
                  </a:moveTo>
                  <a:cubicBezTo>
                    <a:pt x="0" y="405130"/>
                    <a:pt x="435901" y="0"/>
                    <a:pt x="973571" y="0"/>
                  </a:cubicBezTo>
                  <a:lnTo>
                    <a:pt x="8408880" y="0"/>
                  </a:lnTo>
                  <a:lnTo>
                    <a:pt x="8408880" y="12700"/>
                  </a:lnTo>
                  <a:lnTo>
                    <a:pt x="8408880" y="0"/>
                  </a:lnTo>
                  <a:cubicBezTo>
                    <a:pt x="8946550" y="0"/>
                    <a:pt x="9382446" y="405130"/>
                    <a:pt x="9382446" y="905002"/>
                  </a:cubicBezTo>
                  <a:lnTo>
                    <a:pt x="9368789" y="905002"/>
                  </a:lnTo>
                  <a:lnTo>
                    <a:pt x="9382446" y="905002"/>
                  </a:lnTo>
                  <a:lnTo>
                    <a:pt x="9382446" y="7305675"/>
                  </a:lnTo>
                  <a:lnTo>
                    <a:pt x="9368789" y="7305675"/>
                  </a:lnTo>
                  <a:lnTo>
                    <a:pt x="9382446" y="7305675"/>
                  </a:lnTo>
                  <a:cubicBezTo>
                    <a:pt x="9382446" y="7805420"/>
                    <a:pt x="8946550" y="8210677"/>
                    <a:pt x="8408880" y="8210677"/>
                  </a:cubicBezTo>
                  <a:lnTo>
                    <a:pt x="8408880" y="8197977"/>
                  </a:lnTo>
                  <a:lnTo>
                    <a:pt x="8408880" y="8210677"/>
                  </a:lnTo>
                  <a:lnTo>
                    <a:pt x="973571" y="8210677"/>
                  </a:lnTo>
                  <a:lnTo>
                    <a:pt x="973571" y="8197977"/>
                  </a:lnTo>
                  <a:lnTo>
                    <a:pt x="973571" y="8210677"/>
                  </a:lnTo>
                  <a:cubicBezTo>
                    <a:pt x="435901" y="8210550"/>
                    <a:pt x="0" y="7805420"/>
                    <a:pt x="0" y="7305675"/>
                  </a:cubicBezTo>
                  <a:lnTo>
                    <a:pt x="0" y="905002"/>
                  </a:lnTo>
                  <a:lnTo>
                    <a:pt x="13660" y="905002"/>
                  </a:lnTo>
                  <a:lnTo>
                    <a:pt x="0" y="905002"/>
                  </a:lnTo>
                  <a:moveTo>
                    <a:pt x="27321" y="905002"/>
                  </a:moveTo>
                  <a:lnTo>
                    <a:pt x="27321" y="7305675"/>
                  </a:lnTo>
                  <a:lnTo>
                    <a:pt x="13660" y="7305675"/>
                  </a:lnTo>
                  <a:lnTo>
                    <a:pt x="27321" y="7305675"/>
                  </a:lnTo>
                  <a:cubicBezTo>
                    <a:pt x="27321" y="7791450"/>
                    <a:pt x="450927" y="8185150"/>
                    <a:pt x="973571" y="8185150"/>
                  </a:cubicBezTo>
                  <a:lnTo>
                    <a:pt x="8408880" y="8185150"/>
                  </a:lnTo>
                  <a:cubicBezTo>
                    <a:pt x="8931523" y="8185150"/>
                    <a:pt x="9355129" y="7791323"/>
                    <a:pt x="9355129" y="7305548"/>
                  </a:cubicBezTo>
                  <a:lnTo>
                    <a:pt x="9355129" y="905002"/>
                  </a:lnTo>
                  <a:cubicBezTo>
                    <a:pt x="9355130" y="419227"/>
                    <a:pt x="8931387" y="25400"/>
                    <a:pt x="8408880" y="25400"/>
                  </a:cubicBezTo>
                  <a:lnTo>
                    <a:pt x="973571" y="25400"/>
                  </a:lnTo>
                  <a:lnTo>
                    <a:pt x="973571" y="12700"/>
                  </a:lnTo>
                  <a:lnTo>
                    <a:pt x="973571" y="25400"/>
                  </a:lnTo>
                  <a:cubicBezTo>
                    <a:pt x="450927" y="25400"/>
                    <a:pt x="27321" y="419227"/>
                    <a:pt x="27321" y="905002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9382388" cy="829632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Problema o dolor</a:t>
              </a:r>
            </a:p>
            <a:p>
              <a:pPr algn="ctr">
                <a:lnSpc>
                  <a:spcPts val="50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proceso de registro de producción avícola actual se realiza de manera </a:t>
              </a: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manual y desorganizada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</a:t>
              </a:r>
            </a:p>
            <a:p>
              <a:pPr algn="ctr">
                <a:lnSpc>
                  <a:spcPts val="32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Esto genera retrasos significativos, errores humanos en el conteo y pérdida de información vital para la toma de decisiones estratégicas.</a:t>
              </a:r>
            </a:p>
            <a:p>
              <a:pPr algn="ctr">
                <a:lnSpc>
                  <a:spcPts val="5040"/>
                </a:lnSpc>
              </a:pPr>
            </a:p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8593" y="3256463"/>
            <a:ext cx="6542107" cy="6157952"/>
            <a:chOff x="0" y="0"/>
            <a:chExt cx="8722810" cy="82106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00" y="12700"/>
              <a:ext cx="8697468" cy="8185277"/>
            </a:xfrm>
            <a:custGeom>
              <a:avLst/>
              <a:gdLst/>
              <a:ahLst/>
              <a:cxnLst/>
              <a:rect r="r" b="b" t="t" l="l"/>
              <a:pathLst>
                <a:path h="8185277" w="8697468">
                  <a:moveTo>
                    <a:pt x="0" y="892302"/>
                  </a:moveTo>
                  <a:cubicBezTo>
                    <a:pt x="0" y="399542"/>
                    <a:pt x="399542" y="0"/>
                    <a:pt x="892429" y="0"/>
                  </a:cubicBezTo>
                  <a:lnTo>
                    <a:pt x="7805039" y="0"/>
                  </a:lnTo>
                  <a:cubicBezTo>
                    <a:pt x="8297926" y="0"/>
                    <a:pt x="8697468" y="399542"/>
                    <a:pt x="8697468" y="892302"/>
                  </a:cubicBezTo>
                  <a:lnTo>
                    <a:pt x="8697468" y="7292975"/>
                  </a:lnTo>
                  <a:cubicBezTo>
                    <a:pt x="8697468" y="7785735"/>
                    <a:pt x="8297926" y="8185277"/>
                    <a:pt x="7805039" y="8185277"/>
                  </a:cubicBezTo>
                  <a:lnTo>
                    <a:pt x="892429" y="8185277"/>
                  </a:lnTo>
                  <a:cubicBezTo>
                    <a:pt x="399542" y="8185150"/>
                    <a:pt x="0" y="7785735"/>
                    <a:pt x="0" y="729297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22868" cy="8210677"/>
            </a:xfrm>
            <a:custGeom>
              <a:avLst/>
              <a:gdLst/>
              <a:ahLst/>
              <a:cxnLst/>
              <a:rect r="r" b="b" t="t" l="l"/>
              <a:pathLst>
                <a:path h="8210677" w="8722868">
                  <a:moveTo>
                    <a:pt x="0" y="905002"/>
                  </a:moveTo>
                  <a:cubicBezTo>
                    <a:pt x="0" y="405130"/>
                    <a:pt x="405257" y="0"/>
                    <a:pt x="905129" y="0"/>
                  </a:cubicBezTo>
                  <a:lnTo>
                    <a:pt x="7817739" y="0"/>
                  </a:lnTo>
                  <a:lnTo>
                    <a:pt x="7817739" y="12700"/>
                  </a:lnTo>
                  <a:lnTo>
                    <a:pt x="7817739" y="0"/>
                  </a:lnTo>
                  <a:cubicBezTo>
                    <a:pt x="8317611" y="0"/>
                    <a:pt x="8722868" y="405130"/>
                    <a:pt x="8722868" y="905002"/>
                  </a:cubicBezTo>
                  <a:lnTo>
                    <a:pt x="8710168" y="905002"/>
                  </a:lnTo>
                  <a:lnTo>
                    <a:pt x="8722868" y="905002"/>
                  </a:lnTo>
                  <a:lnTo>
                    <a:pt x="8722868" y="7305675"/>
                  </a:lnTo>
                  <a:lnTo>
                    <a:pt x="8710168" y="7305675"/>
                  </a:lnTo>
                  <a:lnTo>
                    <a:pt x="8722868" y="7305675"/>
                  </a:lnTo>
                  <a:cubicBezTo>
                    <a:pt x="8722868" y="7805420"/>
                    <a:pt x="8317611" y="8210677"/>
                    <a:pt x="7817739" y="8210677"/>
                  </a:cubicBezTo>
                  <a:lnTo>
                    <a:pt x="7817739" y="8197977"/>
                  </a:lnTo>
                  <a:lnTo>
                    <a:pt x="7817739" y="8210677"/>
                  </a:lnTo>
                  <a:lnTo>
                    <a:pt x="905129" y="8210677"/>
                  </a:lnTo>
                  <a:lnTo>
                    <a:pt x="905129" y="8197977"/>
                  </a:lnTo>
                  <a:lnTo>
                    <a:pt x="905129" y="8210677"/>
                  </a:lnTo>
                  <a:cubicBezTo>
                    <a:pt x="405257" y="8210550"/>
                    <a:pt x="0" y="7805420"/>
                    <a:pt x="0" y="7305675"/>
                  </a:cubicBezTo>
                  <a:lnTo>
                    <a:pt x="0" y="905002"/>
                  </a:lnTo>
                  <a:lnTo>
                    <a:pt x="12700" y="905002"/>
                  </a:lnTo>
                  <a:lnTo>
                    <a:pt x="0" y="905002"/>
                  </a:lnTo>
                  <a:moveTo>
                    <a:pt x="25400" y="905002"/>
                  </a:moveTo>
                  <a:lnTo>
                    <a:pt x="25400" y="7305675"/>
                  </a:lnTo>
                  <a:lnTo>
                    <a:pt x="12700" y="7305675"/>
                  </a:lnTo>
                  <a:lnTo>
                    <a:pt x="25400" y="7305675"/>
                  </a:lnTo>
                  <a:cubicBezTo>
                    <a:pt x="25400" y="7791450"/>
                    <a:pt x="419227" y="8185150"/>
                    <a:pt x="905129" y="8185150"/>
                  </a:cubicBezTo>
                  <a:lnTo>
                    <a:pt x="7817739" y="8185150"/>
                  </a:lnTo>
                  <a:cubicBezTo>
                    <a:pt x="8303640" y="8185150"/>
                    <a:pt x="8697468" y="7791323"/>
                    <a:pt x="8697468" y="7305548"/>
                  </a:cubicBezTo>
                  <a:lnTo>
                    <a:pt x="8697468" y="905002"/>
                  </a:lnTo>
                  <a:cubicBezTo>
                    <a:pt x="8697468" y="419227"/>
                    <a:pt x="8303514" y="25400"/>
                    <a:pt x="7817739" y="25400"/>
                  </a:cubicBezTo>
                  <a:lnTo>
                    <a:pt x="905129" y="25400"/>
                  </a:lnTo>
                  <a:lnTo>
                    <a:pt x="905129" y="12700"/>
                  </a:lnTo>
                  <a:lnTo>
                    <a:pt x="905129" y="25400"/>
                  </a:lnTo>
                  <a:cubicBezTo>
                    <a:pt x="419227" y="25400"/>
                    <a:pt x="25400" y="419227"/>
                    <a:pt x="25400" y="905002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8722810" cy="829632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Propuesta de solución</a:t>
              </a:r>
            </a:p>
            <a:p>
              <a:pPr algn="ctr">
                <a:lnSpc>
                  <a:spcPts val="50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AvícolaApp:</a:t>
              </a: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Una aplicación móvil híbrida integrada</a:t>
              </a:r>
            </a:p>
            <a:p>
              <a:pPr algn="ctr">
                <a:lnSpc>
                  <a:spcPts val="3240"/>
                </a:lnSpc>
              </a:pP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Permite registrar la producción diaria, centraliza los datos en la nube (Firebase), automatiza reportes y asegura la trazabilidad de la información en tiempo real.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75830" y="5594862"/>
            <a:ext cx="1729863" cy="1154676"/>
            <a:chOff x="0" y="0"/>
            <a:chExt cx="2306484" cy="15395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00" y="12700"/>
              <a:ext cx="2281174" cy="1514094"/>
            </a:xfrm>
            <a:custGeom>
              <a:avLst/>
              <a:gdLst/>
              <a:ahLst/>
              <a:cxnLst/>
              <a:rect r="r" b="b" t="t" l="l"/>
              <a:pathLst>
                <a:path h="1514094" w="2281174">
                  <a:moveTo>
                    <a:pt x="0" y="378587"/>
                  </a:moveTo>
                  <a:lnTo>
                    <a:pt x="1519809" y="378587"/>
                  </a:lnTo>
                  <a:lnTo>
                    <a:pt x="1519809" y="0"/>
                  </a:lnTo>
                  <a:lnTo>
                    <a:pt x="2281174" y="757047"/>
                  </a:lnTo>
                  <a:lnTo>
                    <a:pt x="1519809" y="1514094"/>
                  </a:lnTo>
                  <a:lnTo>
                    <a:pt x="1519809" y="1135634"/>
                  </a:lnTo>
                  <a:lnTo>
                    <a:pt x="0" y="1135634"/>
                  </a:ln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71"/>
              <a:ext cx="2306447" cy="1539409"/>
            </a:xfrm>
            <a:custGeom>
              <a:avLst/>
              <a:gdLst/>
              <a:ahLst/>
              <a:cxnLst/>
              <a:rect r="r" b="b" t="t" l="l"/>
              <a:pathLst>
                <a:path h="1539409" w="2306447">
                  <a:moveTo>
                    <a:pt x="12700" y="378516"/>
                  </a:moveTo>
                  <a:lnTo>
                    <a:pt x="1532509" y="378516"/>
                  </a:lnTo>
                  <a:lnTo>
                    <a:pt x="1532509" y="391216"/>
                  </a:lnTo>
                  <a:lnTo>
                    <a:pt x="1519809" y="391216"/>
                  </a:lnTo>
                  <a:lnTo>
                    <a:pt x="1519809" y="12629"/>
                  </a:lnTo>
                  <a:cubicBezTo>
                    <a:pt x="1519809" y="7549"/>
                    <a:pt x="1522857" y="2850"/>
                    <a:pt x="1527683" y="945"/>
                  </a:cubicBezTo>
                  <a:cubicBezTo>
                    <a:pt x="1532509" y="-960"/>
                    <a:pt x="1537843" y="56"/>
                    <a:pt x="1541526" y="3612"/>
                  </a:cubicBezTo>
                  <a:lnTo>
                    <a:pt x="2302764" y="760659"/>
                  </a:lnTo>
                  <a:cubicBezTo>
                    <a:pt x="2305177" y="763072"/>
                    <a:pt x="2306447" y="766247"/>
                    <a:pt x="2306447" y="769676"/>
                  </a:cubicBezTo>
                  <a:cubicBezTo>
                    <a:pt x="2306447" y="773105"/>
                    <a:pt x="2305050" y="776280"/>
                    <a:pt x="2302764" y="778693"/>
                  </a:cubicBezTo>
                  <a:lnTo>
                    <a:pt x="1541399" y="1535740"/>
                  </a:lnTo>
                  <a:cubicBezTo>
                    <a:pt x="1537716" y="1539296"/>
                    <a:pt x="1532255" y="1540439"/>
                    <a:pt x="1527556" y="1538407"/>
                  </a:cubicBezTo>
                  <a:cubicBezTo>
                    <a:pt x="1522857" y="1536375"/>
                    <a:pt x="1519682" y="1531803"/>
                    <a:pt x="1519682" y="1526723"/>
                  </a:cubicBezTo>
                  <a:lnTo>
                    <a:pt x="1519682" y="1148263"/>
                  </a:lnTo>
                  <a:lnTo>
                    <a:pt x="1532382" y="1148263"/>
                  </a:lnTo>
                  <a:lnTo>
                    <a:pt x="1532382" y="1160963"/>
                  </a:lnTo>
                  <a:lnTo>
                    <a:pt x="12700" y="1160963"/>
                  </a:lnTo>
                  <a:cubicBezTo>
                    <a:pt x="5715" y="1160963"/>
                    <a:pt x="0" y="1155248"/>
                    <a:pt x="0" y="1148263"/>
                  </a:cubicBezTo>
                  <a:lnTo>
                    <a:pt x="0" y="391216"/>
                  </a:lnTo>
                  <a:cubicBezTo>
                    <a:pt x="0" y="384231"/>
                    <a:pt x="5715" y="378516"/>
                    <a:pt x="12700" y="378516"/>
                  </a:cubicBezTo>
                  <a:moveTo>
                    <a:pt x="12700" y="403916"/>
                  </a:moveTo>
                  <a:lnTo>
                    <a:pt x="12700" y="391216"/>
                  </a:lnTo>
                  <a:lnTo>
                    <a:pt x="25400" y="391216"/>
                  </a:lnTo>
                  <a:lnTo>
                    <a:pt x="25400" y="1148263"/>
                  </a:lnTo>
                  <a:lnTo>
                    <a:pt x="12700" y="1148263"/>
                  </a:lnTo>
                  <a:lnTo>
                    <a:pt x="12700" y="1135563"/>
                  </a:lnTo>
                  <a:lnTo>
                    <a:pt x="1532509" y="1135563"/>
                  </a:lnTo>
                  <a:cubicBezTo>
                    <a:pt x="1539494" y="1135563"/>
                    <a:pt x="1545209" y="1141278"/>
                    <a:pt x="1545209" y="1148263"/>
                  </a:cubicBezTo>
                  <a:lnTo>
                    <a:pt x="1545209" y="1526850"/>
                  </a:lnTo>
                  <a:lnTo>
                    <a:pt x="1532509" y="1526850"/>
                  </a:lnTo>
                  <a:lnTo>
                    <a:pt x="1523492" y="1517833"/>
                  </a:lnTo>
                  <a:lnTo>
                    <a:pt x="2284857" y="760659"/>
                  </a:lnTo>
                  <a:lnTo>
                    <a:pt x="2293874" y="769676"/>
                  </a:lnTo>
                  <a:lnTo>
                    <a:pt x="2284857" y="778693"/>
                  </a:lnTo>
                  <a:lnTo>
                    <a:pt x="1523492" y="21646"/>
                  </a:lnTo>
                  <a:lnTo>
                    <a:pt x="1532509" y="12629"/>
                  </a:lnTo>
                  <a:lnTo>
                    <a:pt x="1545209" y="12629"/>
                  </a:lnTo>
                  <a:lnTo>
                    <a:pt x="1545209" y="391216"/>
                  </a:lnTo>
                  <a:cubicBezTo>
                    <a:pt x="1545209" y="398201"/>
                    <a:pt x="1539494" y="403916"/>
                    <a:pt x="1532509" y="403916"/>
                  </a:cubicBezTo>
                  <a:lnTo>
                    <a:pt x="12700" y="403916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“AvicolApp”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" y="2007876"/>
            <a:ext cx="18105118" cy="99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 General</a:t>
            </a:r>
          </a:p>
        </p:txBody>
      </p:sp>
      <p:sp>
        <p:nvSpPr>
          <p:cNvPr name="AutoShape 6" id="6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1442" y="6055089"/>
            <a:ext cx="18105118" cy="99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Objetivos Específicos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2248" y="3051332"/>
            <a:ext cx="16463500" cy="2381881"/>
            <a:chOff x="0" y="0"/>
            <a:chExt cx="21951334" cy="31758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00" y="12700"/>
              <a:ext cx="21925914" cy="3150489"/>
            </a:xfrm>
            <a:custGeom>
              <a:avLst/>
              <a:gdLst/>
              <a:ahLst/>
              <a:cxnLst/>
              <a:rect r="r" b="b" t="t" l="l"/>
              <a:pathLst>
                <a:path h="3150489" w="21925914">
                  <a:moveTo>
                    <a:pt x="0" y="525145"/>
                  </a:moveTo>
                  <a:cubicBezTo>
                    <a:pt x="0" y="235077"/>
                    <a:pt x="236728" y="0"/>
                    <a:pt x="528701" y="0"/>
                  </a:cubicBezTo>
                  <a:lnTo>
                    <a:pt x="21397213" y="0"/>
                  </a:lnTo>
                  <a:cubicBezTo>
                    <a:pt x="21689186" y="0"/>
                    <a:pt x="21925914" y="235077"/>
                    <a:pt x="21925914" y="525145"/>
                  </a:cubicBezTo>
                  <a:lnTo>
                    <a:pt x="21925914" y="2625344"/>
                  </a:lnTo>
                  <a:cubicBezTo>
                    <a:pt x="21925914" y="2915285"/>
                    <a:pt x="21689186" y="3150489"/>
                    <a:pt x="21397213" y="3150489"/>
                  </a:cubicBezTo>
                  <a:lnTo>
                    <a:pt x="528701" y="3150489"/>
                  </a:lnTo>
                  <a:cubicBezTo>
                    <a:pt x="236728" y="3150489"/>
                    <a:pt x="0" y="2915412"/>
                    <a:pt x="0" y="262534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51314" cy="3175889"/>
            </a:xfrm>
            <a:custGeom>
              <a:avLst/>
              <a:gdLst/>
              <a:ahLst/>
              <a:cxnLst/>
              <a:rect r="r" b="b" t="t" l="l"/>
              <a:pathLst>
                <a:path h="3175889" w="21951314">
                  <a:moveTo>
                    <a:pt x="0" y="537845"/>
                  </a:moveTo>
                  <a:cubicBezTo>
                    <a:pt x="0" y="240665"/>
                    <a:pt x="242443" y="0"/>
                    <a:pt x="541401" y="0"/>
                  </a:cubicBezTo>
                  <a:lnTo>
                    <a:pt x="21409913" y="0"/>
                  </a:lnTo>
                  <a:lnTo>
                    <a:pt x="21409913" y="12700"/>
                  </a:lnTo>
                  <a:lnTo>
                    <a:pt x="21409913" y="0"/>
                  </a:lnTo>
                  <a:cubicBezTo>
                    <a:pt x="21708872" y="0"/>
                    <a:pt x="21951314" y="240665"/>
                    <a:pt x="21951314" y="537845"/>
                  </a:cubicBezTo>
                  <a:lnTo>
                    <a:pt x="21938614" y="537845"/>
                  </a:lnTo>
                  <a:lnTo>
                    <a:pt x="21951314" y="537845"/>
                  </a:lnTo>
                  <a:lnTo>
                    <a:pt x="21951314" y="2638044"/>
                  </a:lnTo>
                  <a:lnTo>
                    <a:pt x="21938614" y="2638044"/>
                  </a:lnTo>
                  <a:lnTo>
                    <a:pt x="21951314" y="2638044"/>
                  </a:lnTo>
                  <a:cubicBezTo>
                    <a:pt x="21951314" y="2935097"/>
                    <a:pt x="21708872" y="3175889"/>
                    <a:pt x="21409913" y="3175889"/>
                  </a:cubicBezTo>
                  <a:lnTo>
                    <a:pt x="21409913" y="3163189"/>
                  </a:lnTo>
                  <a:lnTo>
                    <a:pt x="21409913" y="3175889"/>
                  </a:lnTo>
                  <a:lnTo>
                    <a:pt x="541401" y="3175889"/>
                  </a:lnTo>
                  <a:lnTo>
                    <a:pt x="541401" y="3163189"/>
                  </a:lnTo>
                  <a:lnTo>
                    <a:pt x="541401" y="3175889"/>
                  </a:lnTo>
                  <a:cubicBezTo>
                    <a:pt x="242443" y="3175889"/>
                    <a:pt x="0" y="2935097"/>
                    <a:pt x="0" y="2638044"/>
                  </a:cubicBezTo>
                  <a:lnTo>
                    <a:pt x="0" y="537845"/>
                  </a:lnTo>
                  <a:lnTo>
                    <a:pt x="12700" y="537845"/>
                  </a:lnTo>
                  <a:lnTo>
                    <a:pt x="0" y="537845"/>
                  </a:lnTo>
                  <a:moveTo>
                    <a:pt x="25400" y="537845"/>
                  </a:moveTo>
                  <a:lnTo>
                    <a:pt x="25400" y="2638044"/>
                  </a:lnTo>
                  <a:lnTo>
                    <a:pt x="12700" y="2638044"/>
                  </a:lnTo>
                  <a:lnTo>
                    <a:pt x="25400" y="2638044"/>
                  </a:lnTo>
                  <a:cubicBezTo>
                    <a:pt x="25400" y="2921000"/>
                    <a:pt x="256286" y="3150489"/>
                    <a:pt x="541401" y="3150489"/>
                  </a:cubicBezTo>
                  <a:lnTo>
                    <a:pt x="21409913" y="3150489"/>
                  </a:lnTo>
                  <a:cubicBezTo>
                    <a:pt x="21695028" y="3150489"/>
                    <a:pt x="21925914" y="2921000"/>
                    <a:pt x="21925914" y="2638044"/>
                  </a:cubicBezTo>
                  <a:lnTo>
                    <a:pt x="21925914" y="537845"/>
                  </a:lnTo>
                  <a:cubicBezTo>
                    <a:pt x="21925914" y="254889"/>
                    <a:pt x="21695028" y="25400"/>
                    <a:pt x="21409913" y="25400"/>
                  </a:cubicBezTo>
                  <a:lnTo>
                    <a:pt x="541401" y="25400"/>
                  </a:lnTo>
                  <a:lnTo>
                    <a:pt x="541401" y="12700"/>
                  </a:lnTo>
                  <a:lnTo>
                    <a:pt x="541401" y="25400"/>
                  </a:lnTo>
                  <a:cubicBezTo>
                    <a:pt x="256286" y="25400"/>
                    <a:pt x="25400" y="254889"/>
                    <a:pt x="25400" y="537845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951334" cy="3232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Optimizar el registro, control y monitoreo de la producción diaria de huevos dentro del proceso avícola de Ariztía.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2246" y="7089085"/>
            <a:ext cx="16463500" cy="2381882"/>
            <a:chOff x="0" y="0"/>
            <a:chExt cx="21951334" cy="317584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00" y="12700"/>
              <a:ext cx="21925914" cy="3150489"/>
            </a:xfrm>
            <a:custGeom>
              <a:avLst/>
              <a:gdLst/>
              <a:ahLst/>
              <a:cxnLst/>
              <a:rect r="r" b="b" t="t" l="l"/>
              <a:pathLst>
                <a:path h="3150489" w="21925914">
                  <a:moveTo>
                    <a:pt x="0" y="525145"/>
                  </a:moveTo>
                  <a:cubicBezTo>
                    <a:pt x="0" y="235077"/>
                    <a:pt x="236728" y="0"/>
                    <a:pt x="528701" y="0"/>
                  </a:cubicBezTo>
                  <a:lnTo>
                    <a:pt x="21397213" y="0"/>
                  </a:lnTo>
                  <a:cubicBezTo>
                    <a:pt x="21689186" y="0"/>
                    <a:pt x="21925914" y="235077"/>
                    <a:pt x="21925914" y="525145"/>
                  </a:cubicBezTo>
                  <a:lnTo>
                    <a:pt x="21925914" y="2625344"/>
                  </a:lnTo>
                  <a:cubicBezTo>
                    <a:pt x="21925914" y="2915285"/>
                    <a:pt x="21689186" y="3150489"/>
                    <a:pt x="21397213" y="3150489"/>
                  </a:cubicBezTo>
                  <a:lnTo>
                    <a:pt x="528701" y="3150489"/>
                  </a:lnTo>
                  <a:cubicBezTo>
                    <a:pt x="236728" y="3150489"/>
                    <a:pt x="0" y="2915412"/>
                    <a:pt x="0" y="262534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51314" cy="3175889"/>
            </a:xfrm>
            <a:custGeom>
              <a:avLst/>
              <a:gdLst/>
              <a:ahLst/>
              <a:cxnLst/>
              <a:rect r="r" b="b" t="t" l="l"/>
              <a:pathLst>
                <a:path h="3175889" w="21951314">
                  <a:moveTo>
                    <a:pt x="0" y="537845"/>
                  </a:moveTo>
                  <a:cubicBezTo>
                    <a:pt x="0" y="240665"/>
                    <a:pt x="242443" y="0"/>
                    <a:pt x="541401" y="0"/>
                  </a:cubicBezTo>
                  <a:lnTo>
                    <a:pt x="21409913" y="0"/>
                  </a:lnTo>
                  <a:lnTo>
                    <a:pt x="21409913" y="12700"/>
                  </a:lnTo>
                  <a:lnTo>
                    <a:pt x="21409913" y="0"/>
                  </a:lnTo>
                  <a:cubicBezTo>
                    <a:pt x="21708872" y="0"/>
                    <a:pt x="21951314" y="240665"/>
                    <a:pt x="21951314" y="537845"/>
                  </a:cubicBezTo>
                  <a:lnTo>
                    <a:pt x="21938614" y="537845"/>
                  </a:lnTo>
                  <a:lnTo>
                    <a:pt x="21951314" y="537845"/>
                  </a:lnTo>
                  <a:lnTo>
                    <a:pt x="21951314" y="2638044"/>
                  </a:lnTo>
                  <a:lnTo>
                    <a:pt x="21938614" y="2638044"/>
                  </a:lnTo>
                  <a:lnTo>
                    <a:pt x="21951314" y="2638044"/>
                  </a:lnTo>
                  <a:cubicBezTo>
                    <a:pt x="21951314" y="2935097"/>
                    <a:pt x="21708872" y="3175889"/>
                    <a:pt x="21409913" y="3175889"/>
                  </a:cubicBezTo>
                  <a:lnTo>
                    <a:pt x="21409913" y="3163189"/>
                  </a:lnTo>
                  <a:lnTo>
                    <a:pt x="21409913" y="3175889"/>
                  </a:lnTo>
                  <a:lnTo>
                    <a:pt x="541401" y="3175889"/>
                  </a:lnTo>
                  <a:lnTo>
                    <a:pt x="541401" y="3163189"/>
                  </a:lnTo>
                  <a:lnTo>
                    <a:pt x="541401" y="3175889"/>
                  </a:lnTo>
                  <a:cubicBezTo>
                    <a:pt x="242443" y="3175889"/>
                    <a:pt x="0" y="2935097"/>
                    <a:pt x="0" y="2638044"/>
                  </a:cubicBezTo>
                  <a:lnTo>
                    <a:pt x="0" y="537845"/>
                  </a:lnTo>
                  <a:lnTo>
                    <a:pt x="12700" y="537845"/>
                  </a:lnTo>
                  <a:lnTo>
                    <a:pt x="0" y="537845"/>
                  </a:lnTo>
                  <a:moveTo>
                    <a:pt x="25400" y="537845"/>
                  </a:moveTo>
                  <a:lnTo>
                    <a:pt x="25400" y="2638044"/>
                  </a:lnTo>
                  <a:lnTo>
                    <a:pt x="12700" y="2638044"/>
                  </a:lnTo>
                  <a:lnTo>
                    <a:pt x="25400" y="2638044"/>
                  </a:lnTo>
                  <a:cubicBezTo>
                    <a:pt x="25400" y="2921000"/>
                    <a:pt x="256286" y="3150489"/>
                    <a:pt x="541401" y="3150489"/>
                  </a:cubicBezTo>
                  <a:lnTo>
                    <a:pt x="21409913" y="3150489"/>
                  </a:lnTo>
                  <a:cubicBezTo>
                    <a:pt x="21695028" y="3150489"/>
                    <a:pt x="21925914" y="2921000"/>
                    <a:pt x="21925914" y="2638044"/>
                  </a:cubicBezTo>
                  <a:lnTo>
                    <a:pt x="21925914" y="537845"/>
                  </a:lnTo>
                  <a:cubicBezTo>
                    <a:pt x="21925914" y="254889"/>
                    <a:pt x="21695028" y="25400"/>
                    <a:pt x="21409913" y="25400"/>
                  </a:cubicBezTo>
                  <a:lnTo>
                    <a:pt x="541401" y="25400"/>
                  </a:lnTo>
                  <a:lnTo>
                    <a:pt x="541401" y="12700"/>
                  </a:lnTo>
                  <a:lnTo>
                    <a:pt x="541401" y="25400"/>
                  </a:lnTo>
                  <a:cubicBezTo>
                    <a:pt x="256286" y="25400"/>
                    <a:pt x="25400" y="254889"/>
                    <a:pt x="25400" y="537845"/>
                  </a:cubicBezTo>
                  <a:close/>
                </a:path>
              </a:pathLst>
            </a:custGeom>
            <a:solidFill>
              <a:srgbClr val="4472C4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1951334" cy="32329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Reemplazar procesos manuales por digitales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Mejorar la trazabilidad de los datos de producción.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Facilitar la toma de decisiones con reportes en tiempo real.</a:t>
              </a:r>
            </a:p>
            <a:p>
              <a:pPr algn="l" marL="582930" indent="-291465" lvl="1">
                <a:lnSpc>
                  <a:spcPts val="3240"/>
                </a:lnSpc>
                <a:buFont typeface="Arial"/>
                <a:buChar char="•"/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Asegurar un flujo de información confiable entre roles (Pollero, Supervisor).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“AvicolApp”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" y="2080402"/>
            <a:ext cx="18105118" cy="99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Alcances y limitaciones del proyecto</a:t>
            </a:r>
          </a:p>
        </p:txBody>
      </p:sp>
      <p:sp>
        <p:nvSpPr>
          <p:cNvPr name="AutoShape 6" id="6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815942" y="3687897"/>
            <a:ext cx="179855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ALCANCES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58742" y="4254635"/>
            <a:ext cx="6958012" cy="14288"/>
            <a:chOff x="0" y="0"/>
            <a:chExt cx="927735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77350" cy="19050"/>
            </a:xfrm>
            <a:custGeom>
              <a:avLst/>
              <a:gdLst/>
              <a:ahLst/>
              <a:cxnLst/>
              <a:rect r="r" b="b" t="t" l="l"/>
              <a:pathLst>
                <a:path h="19050" w="9277350">
                  <a:moveTo>
                    <a:pt x="0" y="0"/>
                  </a:moveTo>
                  <a:lnTo>
                    <a:pt x="9277350" y="0"/>
                  </a:lnTo>
                  <a:lnTo>
                    <a:pt x="92773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58742" y="4473710"/>
            <a:ext cx="6310312" cy="64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184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Desarrollo de App Móvil para Android.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8742" y="5322197"/>
            <a:ext cx="6310312" cy="130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184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Perfiles de Usuario: Pollero, Encargado, Supervisor.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8742" y="6656840"/>
            <a:ext cx="6310312" cy="130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184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Funcionalidades: Login, Registro Diario, Historial, Reportes Semanales.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8742" y="8162552"/>
            <a:ext cx="6310312" cy="648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184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 de datos en tiempo real.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99871" y="3687897"/>
            <a:ext cx="244316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LIMITACIONES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144125" y="4340360"/>
            <a:ext cx="6958012" cy="14288"/>
            <a:chOff x="0" y="0"/>
            <a:chExt cx="9277350" cy="190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77350" cy="19050"/>
            </a:xfrm>
            <a:custGeom>
              <a:avLst/>
              <a:gdLst/>
              <a:ahLst/>
              <a:cxnLst/>
              <a:rect r="r" b="b" t="t" l="l"/>
              <a:pathLst>
                <a:path h="19050" w="9277350">
                  <a:moveTo>
                    <a:pt x="0" y="0"/>
                  </a:moveTo>
                  <a:lnTo>
                    <a:pt x="9277350" y="0"/>
                  </a:lnTo>
                  <a:lnTo>
                    <a:pt x="92773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144125" y="4559435"/>
            <a:ext cx="7115175" cy="130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184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Dependencia de conexión a internet para sincronización en tiempo real.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44125" y="6094103"/>
            <a:ext cx="6310312" cy="130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5184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Diseñado específicamente para dispositivos Android (APK).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71538" y="4193380"/>
            <a:ext cx="7843838" cy="14288"/>
            <a:chOff x="0" y="0"/>
            <a:chExt cx="10458450" cy="19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58450" cy="19050"/>
            </a:xfrm>
            <a:custGeom>
              <a:avLst/>
              <a:gdLst/>
              <a:ahLst/>
              <a:cxnLst/>
              <a:rect r="r" b="b" t="t" l="l"/>
              <a:pathLst>
                <a:path h="1905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510865" y="4193380"/>
            <a:ext cx="9559603" cy="4074781"/>
          </a:xfrm>
          <a:custGeom>
            <a:avLst/>
            <a:gdLst/>
            <a:ahLst/>
            <a:cxnLst/>
            <a:rect r="r" b="b" t="t" l="l"/>
            <a:pathLst>
              <a:path h="4074781" w="9559603">
                <a:moveTo>
                  <a:pt x="0" y="0"/>
                </a:moveTo>
                <a:lnTo>
                  <a:pt x="9559603" y="0"/>
                </a:lnTo>
                <a:lnTo>
                  <a:pt x="9559603" y="4074781"/>
                </a:lnTo>
                <a:lnTo>
                  <a:pt x="0" y="40747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“AvicolApp”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1" y="1432203"/>
            <a:ext cx="18105118" cy="99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Metodología de trabajo para el desarrollo del proyecto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4836" y="3004851"/>
            <a:ext cx="180082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b="true" sz="4050">
                <a:solidFill>
                  <a:srgbClr val="3D3F3E"/>
                </a:solidFill>
                <a:latin typeface="Ubuntu Bold"/>
                <a:ea typeface="Ubuntu Bold"/>
                <a:cs typeface="Ubuntu Bold"/>
                <a:sym typeface="Ubuntu Bold"/>
              </a:rPr>
              <a:t>SCRUM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4836" y="3643026"/>
            <a:ext cx="8236029" cy="1876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</a:t>
            </a:r>
            <a:r>
              <a:rPr lang="en-US" sz="25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 de Scrum para dividir el proyecto en sprints y priorizar funcionalidades críticas, ademas con reuniones tres veces por semana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4836" y="5395245"/>
            <a:ext cx="7998321" cy="448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0"/>
              </a:lnSpc>
            </a:pPr>
            <a:r>
              <a:rPr lang="en-US" sz="26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Organización:</a:t>
            </a:r>
          </a:p>
          <a:p>
            <a:pPr algn="l" marL="572394" indent="-286197" lvl="1">
              <a:lnSpc>
                <a:spcPts val="5090"/>
              </a:lnSpc>
              <a:buFont typeface="Arial"/>
              <a:buChar char="•"/>
            </a:pPr>
            <a:r>
              <a:rPr lang="en-US" b="true" sz="265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1: </a:t>
            </a:r>
            <a:r>
              <a:rPr lang="en-US" sz="26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Planificación y Product Backlog.</a:t>
            </a:r>
          </a:p>
          <a:p>
            <a:pPr algn="l" marL="572394" indent="-286197" lvl="1">
              <a:lnSpc>
                <a:spcPts val="5090"/>
              </a:lnSpc>
              <a:buFont typeface="Arial"/>
              <a:buChar char="•"/>
            </a:pPr>
            <a:r>
              <a:rPr lang="en-US" b="true" sz="265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2 :</a:t>
            </a:r>
            <a:r>
              <a:rPr lang="en-US" sz="26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Diseño y desarrollo del núcleo funcional (Login, Registro, Roles).</a:t>
            </a:r>
          </a:p>
          <a:p>
            <a:pPr algn="l" marL="572394" indent="-286197" lvl="1">
              <a:lnSpc>
                <a:spcPts val="5090"/>
              </a:lnSpc>
              <a:buFont typeface="Arial"/>
              <a:buChar char="•"/>
            </a:pPr>
            <a:r>
              <a:rPr lang="en-US" b="true" sz="265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3:</a:t>
            </a:r>
            <a:r>
              <a:rPr lang="en-US" sz="26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Cierre, documentación y despliegue.</a:t>
            </a:r>
          </a:p>
          <a:p>
            <a:pPr algn="l">
              <a:lnSpc>
                <a:spcPts val="5090"/>
              </a:lnSpc>
            </a:pPr>
            <a:r>
              <a:rPr lang="en-US" b="true" sz="265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Ventajas:</a:t>
            </a:r>
            <a:r>
              <a:rPr lang="en-US" sz="265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Permitió corrección temprana de errores y adaptación a requerimientos emergentes.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“AvicolApp”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1" y="1375053"/>
            <a:ext cx="18105118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Cronograma para el desarrollo del proyecto</a:t>
            </a:r>
          </a:p>
        </p:txBody>
      </p:sp>
      <p:sp>
        <p:nvSpPr>
          <p:cNvPr name="AutoShape 6" id="6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-11902" y="1125118"/>
            <a:ext cx="6152237" cy="23838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4048145" y="2682119"/>
            <a:ext cx="10237660" cy="6255304"/>
          </a:xfrm>
          <a:custGeom>
            <a:avLst/>
            <a:gdLst/>
            <a:ahLst/>
            <a:cxnLst/>
            <a:rect r="r" b="b" t="t" l="l"/>
            <a:pathLst>
              <a:path h="6255304" w="10237660">
                <a:moveTo>
                  <a:pt x="0" y="0"/>
                </a:moveTo>
                <a:lnTo>
                  <a:pt x="10237660" y="0"/>
                </a:lnTo>
                <a:lnTo>
                  <a:pt x="10237660" y="6255304"/>
                </a:lnTo>
                <a:lnTo>
                  <a:pt x="0" y="6255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“AvicolApp”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1" y="1707696"/>
            <a:ext cx="18105118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 del software</a:t>
            </a:r>
          </a:p>
          <a:p>
            <a:pPr algn="ctr">
              <a:lnSpc>
                <a:spcPts val="432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“AvicolApp”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1" y="1712562"/>
            <a:ext cx="18105118" cy="99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Modelo de datos</a:t>
            </a:r>
          </a:p>
        </p:txBody>
      </p:sp>
      <p:sp>
        <p:nvSpPr>
          <p:cNvPr name="AutoShape 6" id="6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95722" y="4081281"/>
            <a:ext cx="7843838" cy="14288"/>
            <a:chOff x="0" y="0"/>
            <a:chExt cx="10458450" cy="190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58450" cy="19050"/>
            </a:xfrm>
            <a:custGeom>
              <a:avLst/>
              <a:gdLst/>
              <a:ahLst/>
              <a:cxnLst/>
              <a:rect r="r" b="b" t="t" l="l"/>
              <a:pathLst>
                <a:path h="1905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95722" y="3514543"/>
            <a:ext cx="35162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ESTRUCTURA NOSQL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5722" y="4143193"/>
            <a:ext cx="7292891" cy="130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3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Datos organizados en Colecciones y Documentos para alta escalabilidad.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5722" y="5671775"/>
            <a:ext cx="6602699" cy="165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7"/>
              </a:lnSpc>
            </a:pPr>
            <a:r>
              <a:rPr lang="en-US" b="true" sz="2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Colección Users:</a:t>
            </a:r>
          </a:p>
          <a:p>
            <a:pPr algn="l">
              <a:lnSpc>
                <a:spcPts val="431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Almacena credenciales, roles (Pollero, Supervisor) y datos de perfil.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5722" y="7548381"/>
            <a:ext cx="6602699" cy="1653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b="true" sz="2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Colección Recolecciones:</a:t>
            </a:r>
          </a:p>
          <a:p>
            <a:pPr algn="l">
              <a:lnSpc>
                <a:spcPts val="431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Registra la producción diaria vinculada a Galpón, Sector y Fecha.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182026" y="3728856"/>
            <a:ext cx="10688311" cy="4367853"/>
          </a:xfrm>
          <a:custGeom>
            <a:avLst/>
            <a:gdLst/>
            <a:ahLst/>
            <a:cxnLst/>
            <a:rect r="r" b="b" t="t" l="l"/>
            <a:pathLst>
              <a:path h="4367853" w="10688311">
                <a:moveTo>
                  <a:pt x="0" y="0"/>
                </a:moveTo>
                <a:lnTo>
                  <a:pt x="10688311" y="0"/>
                </a:lnTo>
                <a:lnTo>
                  <a:pt x="10688311" y="4367853"/>
                </a:lnTo>
                <a:lnTo>
                  <a:pt x="0" y="4367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85" t="-655" r="-2244" b="-2077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95722" y="541962"/>
            <a:ext cx="1810511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67171"/>
                </a:solidFill>
                <a:latin typeface="Calibri (MS)"/>
                <a:ea typeface="Calibri (MS)"/>
                <a:cs typeface="Calibri (MS)"/>
                <a:sym typeface="Calibri (MS)"/>
              </a:rPr>
              <a:t>PROYECTO “AvicolApp”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" y="2080402"/>
            <a:ext cx="18105118" cy="99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Tecnologías utilizadas</a:t>
            </a:r>
          </a:p>
        </p:txBody>
      </p:sp>
      <p:sp>
        <p:nvSpPr>
          <p:cNvPr name="AutoShape 6" id="6"/>
          <p:cNvSpPr/>
          <p:nvPr/>
        </p:nvSpPr>
        <p:spPr>
          <a:xfrm rot="13320">
            <a:off x="-11925" y="1132275"/>
            <a:ext cx="615228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5382571"/>
            <a:ext cx="307538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IONIC / ANGULAR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1924" y="6496996"/>
            <a:ext cx="2928938" cy="1575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Framework para desarrollo híbrido y lógica de negocio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96403" y="5382571"/>
            <a:ext cx="162675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FIREBASE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45312" y="6082659"/>
            <a:ext cx="2928938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Authentication, Firestore Database y Hosting.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11062" y="5382571"/>
            <a:ext cx="128420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GITHUB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88699" y="6082659"/>
            <a:ext cx="2928938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2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 de versiones y trabajo colaborativo.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58862" y="5382571"/>
            <a:ext cx="307538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CAPACITOR/ </a:t>
            </a:r>
            <a:r>
              <a:rPr lang="en-US" b="true" sz="27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ANDROID STUDIO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32086" y="6496997"/>
            <a:ext cx="2780038" cy="407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0"/>
              </a:lnSpc>
            </a:pPr>
            <a:r>
              <a:rPr lang="en-US" sz="21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Empaqu</a:t>
            </a:r>
            <a:r>
              <a:rPr lang="en-US" sz="213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etado y pruebas de la aplicación híbrida para Android.</a:t>
            </a:r>
          </a:p>
          <a:p>
            <a:pPr algn="ctr">
              <a:lnSpc>
                <a:spcPts val="4100"/>
              </a:lnSpc>
            </a:pPr>
          </a:p>
          <a:p>
            <a:pPr algn="ctr">
              <a:lnSpc>
                <a:spcPts val="4100"/>
              </a:lnSpc>
            </a:pPr>
          </a:p>
          <a:p>
            <a:pPr algn="ctr">
              <a:lnSpc>
                <a:spcPts val="4100"/>
              </a:lnSpc>
            </a:pPr>
          </a:p>
          <a:p>
            <a:pPr algn="ctr">
              <a:lnSpc>
                <a:spcPts val="4100"/>
              </a:lnSpc>
            </a:pP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2252067" y="4263384"/>
            <a:ext cx="628650" cy="714375"/>
            <a:chOff x="0" y="0"/>
            <a:chExt cx="838200" cy="9525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838200" cy="952500"/>
            </a:xfrm>
            <a:custGeom>
              <a:avLst/>
              <a:gdLst/>
              <a:ahLst/>
              <a:cxnLst/>
              <a:rect r="r" b="b" t="t" l="l"/>
              <a:pathLst>
                <a:path h="9525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000"/>
              </a:stretch>
            </a:blipFill>
          </p:spPr>
        </p:sp>
      </p:grp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6495454" y="4263384"/>
            <a:ext cx="628650" cy="714375"/>
            <a:chOff x="0" y="0"/>
            <a:chExt cx="838200" cy="952500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838200" cy="952500"/>
            </a:xfrm>
            <a:custGeom>
              <a:avLst/>
              <a:gdLst/>
              <a:ahLst/>
              <a:cxnLst/>
              <a:rect r="r" b="b" t="t" l="l"/>
              <a:pathLst>
                <a:path h="952500" w="838200">
                  <a:moveTo>
                    <a:pt x="0" y="0"/>
                  </a:moveTo>
                  <a:lnTo>
                    <a:pt x="838200" y="0"/>
                  </a:lnTo>
                  <a:lnTo>
                    <a:pt x="8382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00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0710267" y="4263384"/>
            <a:ext cx="685800" cy="714375"/>
            <a:chOff x="0" y="0"/>
            <a:chExt cx="914400" cy="952500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914400" cy="952500"/>
            </a:xfrm>
            <a:custGeom>
              <a:avLst/>
              <a:gdLst/>
              <a:ahLst/>
              <a:cxnLst/>
              <a:rect r="r" b="b" t="t" l="l"/>
              <a:pathLst>
                <a:path h="9525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000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4896504" y="4263384"/>
            <a:ext cx="800100" cy="714375"/>
            <a:chOff x="0" y="0"/>
            <a:chExt cx="1066800" cy="952500"/>
          </a:xfrm>
        </p:grpSpPr>
        <p:sp>
          <p:nvSpPr>
            <p:cNvPr name="Freeform 22" id="22" descr="image.png"/>
            <p:cNvSpPr/>
            <p:nvPr/>
          </p:nvSpPr>
          <p:spPr>
            <a:xfrm flipH="false" flipV="false" rot="0">
              <a:off x="0" y="0"/>
              <a:ext cx="1066800" cy="952500"/>
            </a:xfrm>
            <a:custGeom>
              <a:avLst/>
              <a:gdLst/>
              <a:ahLst/>
              <a:cxnLst/>
              <a:rect r="r" b="b" t="t" l="l"/>
              <a:pathLst>
                <a:path h="952500" w="1066800">
                  <a:moveTo>
                    <a:pt x="0" y="0"/>
                  </a:moveTo>
                  <a:lnTo>
                    <a:pt x="1066800" y="0"/>
                  </a:lnTo>
                  <a:lnTo>
                    <a:pt x="10668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200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15877" y="3365718"/>
            <a:ext cx="5456247" cy="5456247"/>
          </a:xfrm>
          <a:custGeom>
            <a:avLst/>
            <a:gdLst/>
            <a:ahLst/>
            <a:cxnLst/>
            <a:rect r="r" b="b" t="t" l="l"/>
            <a:pathLst>
              <a:path h="5456247" w="5456247">
                <a:moveTo>
                  <a:pt x="0" y="0"/>
                </a:moveTo>
                <a:lnTo>
                  <a:pt x="5456246" y="0"/>
                </a:lnTo>
                <a:lnTo>
                  <a:pt x="5456246" y="5456247"/>
                </a:lnTo>
                <a:lnTo>
                  <a:pt x="0" y="54562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9580" y="1820162"/>
            <a:ext cx="18105118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DEMOSTRACIÓN DEL RESULTADO DEL PROYECTO</a:t>
            </a:r>
          </a:p>
          <a:p>
            <a:pPr algn="ctr">
              <a:lnSpc>
                <a:spcPts val="43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149850" y="8797607"/>
            <a:ext cx="7988300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webavicolaapp.web.app"/>
              </a:rPr>
              <a:t>https://webavicolaapp.web.app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1" y="1686863"/>
            <a:ext cx="18105118" cy="120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Resultados obtenidos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3736180" y="4503336"/>
            <a:ext cx="1143000" cy="1143000"/>
            <a:chOff x="0" y="0"/>
            <a:chExt cx="1524000" cy="15240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25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47335" y="5932086"/>
            <a:ext cx="552069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FUNCIONALIDAD COMPLETA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78780" y="6489299"/>
            <a:ext cx="5257800" cy="14288"/>
            <a:chOff x="0" y="0"/>
            <a:chExt cx="701040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0400" cy="19050"/>
            </a:xfrm>
            <a:custGeom>
              <a:avLst/>
              <a:gdLst/>
              <a:ahLst/>
              <a:cxnLst/>
              <a:rect r="r" b="b" t="t" l="l"/>
              <a:pathLst>
                <a:path h="1905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6713136"/>
            <a:ext cx="6557962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3"/>
              </a:lnSpc>
            </a:pPr>
            <a:r>
              <a:rPr lang="en-US" sz="24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Módulos de registro y reporte operativos al 100%.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12358" y="3748406"/>
            <a:ext cx="7272338" cy="144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 de autenticación seguro implementado.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12358" y="5131169"/>
            <a:ext cx="7272338" cy="71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Base de datos en tiempo real operativa.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12358" y="5965424"/>
            <a:ext cx="7272338" cy="71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Interfaz amigable validada por usuarios.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12358" y="6799680"/>
            <a:ext cx="7272338" cy="71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Generación de reportes automáticos de 7 días.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12358" y="7592417"/>
            <a:ext cx="7272338" cy="144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7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APK generado y funcional en dispositivos Android.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8240858" y="4015106"/>
            <a:ext cx="300038" cy="371475"/>
            <a:chOff x="0" y="0"/>
            <a:chExt cx="400050" cy="4953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00050" cy="495300"/>
            </a:xfrm>
            <a:custGeom>
              <a:avLst/>
              <a:gdLst/>
              <a:ahLst/>
              <a:cxnLst/>
              <a:rect r="r" b="b" t="t" l="l"/>
              <a:pathLst>
                <a:path h="4953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8240858" y="5397869"/>
            <a:ext cx="300038" cy="371475"/>
            <a:chOff x="0" y="0"/>
            <a:chExt cx="400050" cy="4953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00050" cy="495300"/>
            </a:xfrm>
            <a:custGeom>
              <a:avLst/>
              <a:gdLst/>
              <a:ahLst/>
              <a:cxnLst/>
              <a:rect r="r" b="b" t="t" l="l"/>
              <a:pathLst>
                <a:path h="4953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8240858" y="6232124"/>
            <a:ext cx="300038" cy="371475"/>
            <a:chOff x="0" y="0"/>
            <a:chExt cx="400050" cy="4953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00050" cy="495300"/>
            </a:xfrm>
            <a:custGeom>
              <a:avLst/>
              <a:gdLst/>
              <a:ahLst/>
              <a:cxnLst/>
              <a:rect r="r" b="b" t="t" l="l"/>
              <a:pathLst>
                <a:path h="4953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8240858" y="7066380"/>
            <a:ext cx="300038" cy="371475"/>
            <a:chOff x="0" y="0"/>
            <a:chExt cx="400050" cy="4953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00050" cy="495300"/>
            </a:xfrm>
            <a:custGeom>
              <a:avLst/>
              <a:gdLst/>
              <a:ahLst/>
              <a:cxnLst/>
              <a:rect r="r" b="b" t="t" l="l"/>
              <a:pathLst>
                <a:path h="4953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8240858" y="7859117"/>
            <a:ext cx="300038" cy="371475"/>
            <a:chOff x="0" y="0"/>
            <a:chExt cx="400050" cy="4953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00050" cy="495300"/>
            </a:xfrm>
            <a:custGeom>
              <a:avLst/>
              <a:gdLst/>
              <a:ahLst/>
              <a:cxnLst/>
              <a:rect r="r" b="b" t="t" l="l"/>
              <a:pathLst>
                <a:path h="4953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254552" y="2552075"/>
          <a:ext cx="17778896" cy="7391400"/>
        </p:xfrm>
        <a:graphic>
          <a:graphicData uri="http://schemas.openxmlformats.org/drawingml/2006/table">
            <a:tbl>
              <a:tblPr/>
              <a:tblGrid>
                <a:gridCol w="5846967"/>
                <a:gridCol w="6082321"/>
                <a:gridCol w="5849608"/>
              </a:tblGrid>
              <a:tr h="10244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1.Cambio de Alcance del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2.Impletar Metodologia Scrum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3.Problemas Tecnicos con GitHub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66944">
                <a:tc>
                  <a:txBody>
                    <a:bodyPr anchor="t" rtlCol="false"/>
                    <a:lstStyle/>
                    <a:p>
                      <a:pPr algn="l" marL="474975" indent="-237487" lvl="1">
                        <a:lnSpc>
                          <a:spcPts val="30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 la segunda semana de avance, el cliente solicitó modificar completamente la idea inicial.</a:t>
                      </a:r>
                      <a:endParaRPr lang="en-US" sz="1100"/>
                    </a:p>
                    <a:p>
                      <a:pPr algn="l" marL="474975" indent="-237487" lvl="1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El proyecto pasó de una app para registrar pollos, gallinas, mortalidad y producción total de huevos…</a:t>
                      </a:r>
                    </a:p>
                    <a:p>
                      <a:pPr algn="l" marL="474975" indent="-237487" lvl="1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…a una app enfocada únicamente en el </a:t>
                      </a: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registro diario de calidad de huevos, incluyendo:</a:t>
                      </a:r>
                    </a:p>
                    <a:p>
                      <a:pPr algn="l" marL="949949" indent="-316650" lvl="2">
                        <a:lnSpc>
                          <a:spcPts val="3079"/>
                        </a:lnSpc>
                        <a:buFont typeface="Arial"/>
                        <a:buChar char="⚬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Incubables de nido y piso</a:t>
                      </a:r>
                    </a:p>
                    <a:p>
                      <a:pPr algn="l" marL="949949" indent="-316650" lvl="2">
                        <a:lnSpc>
                          <a:spcPts val="3079"/>
                        </a:lnSpc>
                        <a:buFont typeface="Arial"/>
                        <a:buChar char="⚬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Sucios de nido y piso</a:t>
                      </a:r>
                    </a:p>
                    <a:p>
                      <a:pPr algn="l" marL="949949" indent="-316650" lvl="2">
                        <a:lnSpc>
                          <a:spcPts val="3079"/>
                        </a:lnSpc>
                        <a:buFont typeface="Arial"/>
                        <a:buChar char="⚬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Trizados de nido y piso</a:t>
                      </a:r>
                    </a:p>
                    <a:p>
                      <a:pPr algn="l" marL="949949" indent="-316650" lvl="2">
                        <a:lnSpc>
                          <a:spcPts val="3079"/>
                        </a:lnSpc>
                        <a:buFont typeface="Arial"/>
                        <a:buChar char="⚬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Huevos dobles de nido y piso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Este cambio implicó rehacer documentación, redefinir módulos y replantear todo el diseño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74975" indent="-237487" lvl="1">
                        <a:lnSpc>
                          <a:spcPts val="30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Problemas de comunicación interna.</a:t>
                      </a:r>
                      <a:endParaRPr lang="en-US" sz="1100"/>
                    </a:p>
                    <a:p>
                      <a:pPr algn="l" marL="474975" indent="-237487" lvl="1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Reuniones desordenadas y con temas importantes omitidos.</a:t>
                      </a:r>
                    </a:p>
                    <a:p>
                      <a:pPr algn="l" marL="474975" indent="-237487" lvl="1">
                        <a:lnSpc>
                          <a:spcPts val="3079"/>
                        </a:lnSpc>
                        <a:buFont typeface="Arial"/>
                        <a:buChar char="•"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Falta de seguimiento adecuado de los sprints.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74983" indent="-237491" lvl="1">
                        <a:lnSpc>
                          <a:spcPts val="30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El equipo tuvo dificultades para entender su uso: commits, ramas y subida de evidencia.</a:t>
                      </a:r>
                      <a:endParaRPr lang="en-US" sz="1100"/>
                    </a:p>
                    <a:p>
                      <a:pPr algn="l" marL="474983" indent="-237491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Esto afectaba la visibilidad del trabajo realizado y generaba la impresión de poco avance.</a:t>
                      </a:r>
                    </a:p>
                    <a:p>
                      <a:pPr algn="l" marL="474983" indent="-237491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Varios avances no se registraron correctamente debido al mal uso de la herramienta.</a:t>
                      </a:r>
                    </a:p>
                    <a:p>
                      <a:pPr algn="ctr">
                        <a:lnSpc>
                          <a:spcPts val="308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82881" y="1346478"/>
            <a:ext cx="18105118" cy="120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Obstáculos presentados durante el desarrollo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3158228" y="311325"/>
            <a:ext cx="4712109" cy="1178028"/>
            <a:chOff x="0" y="0"/>
            <a:chExt cx="6282812" cy="1570704"/>
          </a:xfrm>
        </p:grpSpPr>
        <p:sp>
          <p:nvSpPr>
            <p:cNvPr name="Freeform 3" id="3" descr="EscuelaIT Duoc UC - Escuela de Informática y Telecomunicaciones Duoc UC - Duoc  UC | LinkedIn"/>
            <p:cNvSpPr/>
            <p:nvPr/>
          </p:nvSpPr>
          <p:spPr>
            <a:xfrm flipH="false" flipV="false" rot="0">
              <a:off x="0" y="0"/>
              <a:ext cx="6282817" cy="1570736"/>
            </a:xfrm>
            <a:custGeom>
              <a:avLst/>
              <a:gdLst/>
              <a:ahLst/>
              <a:cxnLst/>
              <a:rect r="r" b="b" t="t" l="l"/>
              <a:pathLst>
                <a:path h="1570736" w="6282817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" y="4469263"/>
            <a:ext cx="18105118" cy="120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PREGUNTAS DE LA COMISIÓN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DAG7EwUrh94</dc:identifier>
  <dcterms:modified xsi:type="dcterms:W3CDTF">2011-08-01T06:04:30Z</dcterms:modified>
  <cp:revision>1</cp:revision>
  <dc:title>Presentación final.pptx</dc:title>
</cp:coreProperties>
</file>