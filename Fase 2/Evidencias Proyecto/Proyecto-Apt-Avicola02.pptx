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Ubuntu Bold" charset="1" panose="020B0804030602030204"/>
      <p:regular r:id="rId16"/>
    </p:embeddedFont>
    <p:embeddedFont>
      <p:font typeface="Inter Bold Italics" charset="1" panose="020B0802030000000004"/>
      <p:regular r:id="rId17"/>
    </p:embeddedFont>
    <p:embeddedFont>
      <p:font typeface="Inter Italics" charset="1" panose="020B0502030000000004"/>
      <p:regular r:id="rId18"/>
    </p:embeddedFont>
    <p:embeddedFont>
      <p:font typeface="Inter Bold" charset="1" panose="020B0802030000000004"/>
      <p:regular r:id="rId19"/>
    </p:embeddedFont>
    <p:embeddedFont>
      <p:font typeface="Inter" charset="1" panose="020B0502030000000004"/>
      <p:regular r:id="rId20"/>
    </p:embeddedFont>
    <p:embeddedFont>
      <p:font typeface="Ubuntu" charset="1" panose="020B0504030602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Relationship Id="rId8" Target="../media/image2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5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718127"/>
            <a:chOff x="0" y="0"/>
            <a:chExt cx="2993042" cy="772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3042" cy="772176"/>
            </a:xfrm>
            <a:custGeom>
              <a:avLst/>
              <a:gdLst/>
              <a:ahLst/>
              <a:cxnLst/>
              <a:rect r="r" b="b" t="t" l="l"/>
              <a:pathLst>
                <a:path h="772176" w="2993042">
                  <a:moveTo>
                    <a:pt x="0" y="0"/>
                  </a:moveTo>
                  <a:lnTo>
                    <a:pt x="2993042" y="0"/>
                  </a:lnTo>
                  <a:lnTo>
                    <a:pt x="2993042" y="772176"/>
                  </a:lnTo>
                  <a:lnTo>
                    <a:pt x="0" y="772176"/>
                  </a:lnTo>
                  <a:close/>
                </a:path>
              </a:pathLst>
            </a:custGeom>
            <a:blipFill>
              <a:blip r:embed="rId2"/>
              <a:stretch>
                <a:fillRect l="0" t="-79321" r="0" b="-793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09752" y="4289738"/>
            <a:ext cx="14849548" cy="491895"/>
            <a:chOff x="0" y="0"/>
            <a:chExt cx="3910992" cy="1295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10992" cy="129553"/>
            </a:xfrm>
            <a:custGeom>
              <a:avLst/>
              <a:gdLst/>
              <a:ahLst/>
              <a:cxnLst/>
              <a:rect r="r" b="b" t="t" l="l"/>
              <a:pathLst>
                <a:path h="129553" w="3910992">
                  <a:moveTo>
                    <a:pt x="0" y="0"/>
                  </a:moveTo>
                  <a:lnTo>
                    <a:pt x="3910992" y="0"/>
                  </a:lnTo>
                  <a:lnTo>
                    <a:pt x="3910992" y="129553"/>
                  </a:lnTo>
                  <a:lnTo>
                    <a:pt x="0" y="129553"/>
                  </a:lnTo>
                  <a:close/>
                </a:path>
              </a:pathLst>
            </a:custGeom>
            <a:solidFill>
              <a:srgbClr val="E92F2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910992" cy="167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-106587"/>
            <a:ext cx="5287737" cy="10393587"/>
          </a:xfrm>
          <a:custGeom>
            <a:avLst/>
            <a:gdLst/>
            <a:ahLst/>
            <a:cxnLst/>
            <a:rect r="r" b="b" t="t" l="l"/>
            <a:pathLst>
              <a:path h="10393587" w="5287737">
                <a:moveTo>
                  <a:pt x="0" y="0"/>
                </a:moveTo>
                <a:lnTo>
                  <a:pt x="5287737" y="0"/>
                </a:lnTo>
                <a:lnTo>
                  <a:pt x="5287737" y="10393587"/>
                </a:lnTo>
                <a:lnTo>
                  <a:pt x="0" y="103935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6360080" y="7333660"/>
            <a:ext cx="3141143" cy="1641247"/>
          </a:xfrm>
          <a:custGeom>
            <a:avLst/>
            <a:gdLst/>
            <a:ahLst/>
            <a:cxnLst/>
            <a:rect r="r" b="b" t="t" l="l"/>
            <a:pathLst>
              <a:path h="1641247" w="3141143">
                <a:moveTo>
                  <a:pt x="0" y="0"/>
                </a:moveTo>
                <a:lnTo>
                  <a:pt x="3141143" y="0"/>
                </a:lnTo>
                <a:lnTo>
                  <a:pt x="3141143" y="1641248"/>
                </a:lnTo>
                <a:lnTo>
                  <a:pt x="0" y="16412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2402744" y="5012831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5" y="0"/>
                </a:lnTo>
                <a:lnTo>
                  <a:pt x="5725845" y="842878"/>
                </a:lnTo>
                <a:lnTo>
                  <a:pt x="0" y="842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26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4461" y="6170034"/>
            <a:ext cx="14054128" cy="138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9"/>
              </a:lnSpc>
            </a:pPr>
            <a:r>
              <a:rPr lang="en-US" sz="5299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PROYECTO APT - AVICOLAPP REGISTRO DIGITAL DE CLASIFICACIÓN DE HUEVOS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02657" y="9429906"/>
            <a:ext cx="7227994" cy="6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2436" i="true" b="true">
                <a:solidFill>
                  <a:srgbClr val="000000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Equipo: </a:t>
            </a:r>
            <a:r>
              <a:rPr lang="en-US" sz="2436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Arturo Rojas (PO) | Maria Morales (SM) | David Mardones (Dev)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3941" y="1581217"/>
            <a:ext cx="20015708" cy="7124567"/>
            <a:chOff x="0" y="0"/>
            <a:chExt cx="1235687" cy="4398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5687" cy="439841"/>
            </a:xfrm>
            <a:custGeom>
              <a:avLst/>
              <a:gdLst/>
              <a:ahLst/>
              <a:cxnLst/>
              <a:rect r="r" b="b" t="t" l="l"/>
              <a:pathLst>
                <a:path h="439841" w="1235687">
                  <a:moveTo>
                    <a:pt x="1235687" y="219921"/>
                  </a:moveTo>
                  <a:lnTo>
                    <a:pt x="1032487" y="439841"/>
                  </a:lnTo>
                  <a:lnTo>
                    <a:pt x="203200" y="439841"/>
                  </a:lnTo>
                  <a:lnTo>
                    <a:pt x="0" y="219921"/>
                  </a:lnTo>
                  <a:lnTo>
                    <a:pt x="203200" y="0"/>
                  </a:lnTo>
                  <a:lnTo>
                    <a:pt x="1032487" y="0"/>
                  </a:lnTo>
                  <a:lnTo>
                    <a:pt x="1235687" y="219921"/>
                  </a:ln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1007087" cy="477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7473" y="-2228535"/>
            <a:ext cx="13276267" cy="12515535"/>
            <a:chOff x="0" y="0"/>
            <a:chExt cx="466576" cy="4398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6576" cy="439841"/>
            </a:xfrm>
            <a:custGeom>
              <a:avLst/>
              <a:gdLst/>
              <a:ahLst/>
              <a:cxnLst/>
              <a:rect r="r" b="b" t="t" l="l"/>
              <a:pathLst>
                <a:path h="439841" w="466576">
                  <a:moveTo>
                    <a:pt x="466576" y="219921"/>
                  </a:moveTo>
                  <a:lnTo>
                    <a:pt x="263376" y="439841"/>
                  </a:lnTo>
                  <a:lnTo>
                    <a:pt x="203200" y="439841"/>
                  </a:lnTo>
                  <a:lnTo>
                    <a:pt x="0" y="219921"/>
                  </a:lnTo>
                  <a:lnTo>
                    <a:pt x="203200" y="0"/>
                  </a:lnTo>
                  <a:lnTo>
                    <a:pt x="263376" y="0"/>
                  </a:lnTo>
                  <a:lnTo>
                    <a:pt x="466576" y="219921"/>
                  </a:lnTo>
                  <a:close/>
                </a:path>
              </a:pathLst>
            </a:custGeom>
            <a:solidFill>
              <a:srgbClr val="E92F2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237976" cy="477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400000">
            <a:off x="12762886" y="-2881246"/>
            <a:ext cx="5287737" cy="5762491"/>
          </a:xfrm>
          <a:custGeom>
            <a:avLst/>
            <a:gdLst/>
            <a:ahLst/>
            <a:cxnLst/>
            <a:rect r="r" b="b" t="t" l="l"/>
            <a:pathLst>
              <a:path h="5762491" w="5287737">
                <a:moveTo>
                  <a:pt x="0" y="0"/>
                </a:moveTo>
                <a:lnTo>
                  <a:pt x="5287737" y="0"/>
                </a:lnTo>
                <a:lnTo>
                  <a:pt x="5287737" y="5762492"/>
                </a:lnTo>
                <a:lnTo>
                  <a:pt x="0" y="5762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0366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960402" y="3437629"/>
            <a:ext cx="20015708" cy="7124567"/>
            <a:chOff x="0" y="0"/>
            <a:chExt cx="1235687" cy="4398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5687" cy="439841"/>
            </a:xfrm>
            <a:custGeom>
              <a:avLst/>
              <a:gdLst/>
              <a:ahLst/>
              <a:cxnLst/>
              <a:rect r="r" b="b" t="t" l="l"/>
              <a:pathLst>
                <a:path h="439841" w="1235687">
                  <a:moveTo>
                    <a:pt x="1235687" y="219921"/>
                  </a:moveTo>
                  <a:lnTo>
                    <a:pt x="1032487" y="439841"/>
                  </a:lnTo>
                  <a:lnTo>
                    <a:pt x="203200" y="439841"/>
                  </a:lnTo>
                  <a:lnTo>
                    <a:pt x="0" y="219921"/>
                  </a:lnTo>
                  <a:lnTo>
                    <a:pt x="203200" y="0"/>
                  </a:lnTo>
                  <a:lnTo>
                    <a:pt x="1032487" y="0"/>
                  </a:lnTo>
                  <a:lnTo>
                    <a:pt x="1235687" y="219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524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1007087" cy="477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-1362495" y="8437676"/>
            <a:ext cx="3141143" cy="1641247"/>
          </a:xfrm>
          <a:custGeom>
            <a:avLst/>
            <a:gdLst/>
            <a:ahLst/>
            <a:cxnLst/>
            <a:rect r="r" b="b" t="t" l="l"/>
            <a:pathLst>
              <a:path h="1641247" w="3141143">
                <a:moveTo>
                  <a:pt x="0" y="0"/>
                </a:moveTo>
                <a:lnTo>
                  <a:pt x="3141143" y="0"/>
                </a:lnTo>
                <a:lnTo>
                  <a:pt x="3141143" y="1641248"/>
                </a:lnTo>
                <a:lnTo>
                  <a:pt x="0" y="1641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08076" y="2018962"/>
            <a:ext cx="10393762" cy="16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2"/>
              </a:lnSpc>
            </a:pPr>
            <a:r>
              <a:rPr lang="en-US" sz="6302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CONTEXTO: INEFICIENCIA EN GRANJAS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139238" y="4569460"/>
            <a:ext cx="9525" cy="1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08076" y="4598035"/>
            <a:ext cx="9752928" cy="218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32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Problemática Actual</a:t>
            </a:r>
          </a:p>
          <a:p>
            <a:pPr algn="l">
              <a:lnSpc>
                <a:spcPts val="2328"/>
              </a:lnSpc>
            </a:pPr>
          </a:p>
          <a:p>
            <a:pPr algn="l">
              <a:lnSpc>
                <a:spcPts val="2328"/>
              </a:lnSpc>
            </a:pPr>
            <a:r>
              <a:rPr lang="en-US" sz="232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registro de huevos en las granjas reproductoras de Ariztia se realiza de forma manual. Esto genera retrasos en la información, errores humanos en el conteo y dificulta la toma de decisiones rápidas sobre la calidad.</a:t>
            </a:r>
          </a:p>
          <a:p>
            <a:pPr algn="l">
              <a:lnSpc>
                <a:spcPts val="1648"/>
              </a:lnSpc>
            </a:pPr>
          </a:p>
          <a:p>
            <a:pPr algn="l">
              <a:lnSpc>
                <a:spcPts val="164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08076" y="6952287"/>
            <a:ext cx="10604920" cy="244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33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Riesgos Operativos</a:t>
            </a:r>
          </a:p>
          <a:p>
            <a:pPr algn="l">
              <a:lnSpc>
                <a:spcPts val="3262"/>
              </a:lnSpc>
            </a:pPr>
          </a:p>
          <a:p>
            <a:pPr algn="l">
              <a:lnSpc>
                <a:spcPts val="3262"/>
              </a:lnSpc>
            </a:pP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fa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lta de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ización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ries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gos de pér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dida de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datos f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í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sicos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lta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3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trazabilidad en tiempo real sobre la clasificación de huevos (Incubables vs. Sucios/Deformados).</a:t>
            </a:r>
          </a:p>
          <a:p>
            <a:pPr algn="l">
              <a:lnSpc>
                <a:spcPts val="326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000263" y="-106587"/>
            <a:ext cx="5287737" cy="10393587"/>
          </a:xfrm>
          <a:custGeom>
            <a:avLst/>
            <a:gdLst/>
            <a:ahLst/>
            <a:cxnLst/>
            <a:rect r="r" b="b" t="t" l="l"/>
            <a:pathLst>
              <a:path h="10393587" w="5287737">
                <a:moveTo>
                  <a:pt x="0" y="0"/>
                </a:moveTo>
                <a:lnTo>
                  <a:pt x="5287737" y="0"/>
                </a:lnTo>
                <a:lnTo>
                  <a:pt x="5287737" y="10393587"/>
                </a:lnTo>
                <a:lnTo>
                  <a:pt x="0" y="103935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32439" y="1170918"/>
            <a:ext cx="5148883" cy="3674746"/>
            <a:chOff x="0" y="0"/>
            <a:chExt cx="797697" cy="5693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7697" cy="569314"/>
            </a:xfrm>
            <a:custGeom>
              <a:avLst/>
              <a:gdLst/>
              <a:ahLst/>
              <a:cxnLst/>
              <a:rect r="r" b="b" t="t" l="l"/>
              <a:pathLst>
                <a:path h="569314" w="797697">
                  <a:moveTo>
                    <a:pt x="0" y="0"/>
                  </a:moveTo>
                  <a:lnTo>
                    <a:pt x="797697" y="0"/>
                  </a:lnTo>
                  <a:lnTo>
                    <a:pt x="797697" y="569314"/>
                  </a:lnTo>
                  <a:lnTo>
                    <a:pt x="0" y="569314"/>
                  </a:lnTo>
                  <a:close/>
                </a:path>
              </a:pathLst>
            </a:custGeom>
            <a:blipFill>
              <a:blip r:embed="rId4"/>
              <a:stretch>
                <a:fillRect l="-4518" t="0" r="-4518" b="0"/>
              </a:stretch>
            </a:blipFill>
            <a:ln w="2286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10736147">
            <a:off x="9004833" y="-71145"/>
            <a:ext cx="3141143" cy="1641247"/>
          </a:xfrm>
          <a:custGeom>
            <a:avLst/>
            <a:gdLst/>
            <a:ahLst/>
            <a:cxnLst/>
            <a:rect r="r" b="b" t="t" l="l"/>
            <a:pathLst>
              <a:path h="1641247" w="3141143">
                <a:moveTo>
                  <a:pt x="0" y="0"/>
                </a:moveTo>
                <a:lnTo>
                  <a:pt x="3141144" y="0"/>
                </a:lnTo>
                <a:lnTo>
                  <a:pt x="3141144" y="1641247"/>
                </a:lnTo>
                <a:lnTo>
                  <a:pt x="0" y="16412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208076" y="1733585"/>
            <a:ext cx="15098804" cy="217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DESARROLLO DE INGENIERIA SOLUCIÓN: AVICOLAPP</a:t>
            </a:r>
          </a:p>
          <a:p>
            <a:pPr algn="l">
              <a:lnSpc>
                <a:spcPts val="4700"/>
              </a:lnSpc>
            </a:pPr>
          </a:p>
          <a:p>
            <a:pPr algn="l">
              <a:lnSpc>
                <a:spcPts val="2900"/>
              </a:lnSpc>
            </a:pPr>
            <a:r>
              <a:rPr lang="en-US" sz="290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DIGITALIZACIÓN IN-SITU PARA UNA GESTIÓN INTELIGENTE.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2926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327" y="4601674"/>
            <a:ext cx="6812450" cy="5073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7499" indent="-253749" lvl="1">
              <a:lnSpc>
                <a:spcPts val="3290"/>
              </a:lnSpc>
              <a:buFont typeface="Arial"/>
              <a:buChar char="•"/>
            </a:pPr>
            <a:r>
              <a:rPr lang="en-US" b="true" sz="23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App Móvil Intuitiva: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Diseñada para 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entorno de campo, facilitando la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rga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ráp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de da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 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parte de los operarios.</a:t>
            </a:r>
          </a:p>
          <a:p>
            <a:pPr algn="l">
              <a:lnSpc>
                <a:spcPts val="3290"/>
              </a:lnSpc>
            </a:pPr>
          </a:p>
          <a:p>
            <a:pPr algn="l" marL="507499" indent="-253749" lvl="1">
              <a:lnSpc>
                <a:spcPts val="3290"/>
              </a:lnSpc>
              <a:buFont typeface="Arial"/>
              <a:buChar char="•"/>
            </a:pP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3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Datos en Tiempo Real: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oniz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ación 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utomática con la nube para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ac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ceso inmediato a la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aci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ón 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producción.</a:t>
            </a:r>
          </a:p>
          <a:p>
            <a:pPr algn="l">
              <a:lnSpc>
                <a:spcPts val="3290"/>
              </a:lnSpc>
            </a:pPr>
          </a:p>
          <a:p>
            <a:pPr algn="l" marL="507499" indent="-253749" lvl="1">
              <a:lnSpc>
                <a:spcPts val="3290"/>
              </a:lnSpc>
              <a:buFont typeface="Arial"/>
              <a:buChar char="•"/>
            </a:pP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35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Clasificación de Calidad: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Registro preciso de huevos Incubables, Suci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23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s, Deformados, etc., desde el origen.</a:t>
            </a:r>
          </a:p>
          <a:p>
            <a:pPr algn="l">
              <a:lnSpc>
                <a:spcPts val="2310"/>
              </a:lnSpc>
            </a:pPr>
          </a:p>
          <a:p>
            <a:pPr algn="l">
              <a:lnSpc>
                <a:spcPts val="23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1636014" y="0"/>
            <a:ext cx="6651986" cy="4806060"/>
          </a:xfrm>
          <a:custGeom>
            <a:avLst/>
            <a:gdLst/>
            <a:ahLst/>
            <a:cxnLst/>
            <a:rect r="r" b="b" t="t" l="l"/>
            <a:pathLst>
              <a:path h="4806060" w="6651986">
                <a:moveTo>
                  <a:pt x="6651986" y="0"/>
                </a:moveTo>
                <a:lnTo>
                  <a:pt x="0" y="0"/>
                </a:lnTo>
                <a:lnTo>
                  <a:pt x="0" y="4806060"/>
                </a:lnTo>
                <a:lnTo>
                  <a:pt x="6651986" y="4806060"/>
                </a:lnTo>
                <a:lnTo>
                  <a:pt x="66519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03278" y="2602672"/>
            <a:ext cx="4971721" cy="2597724"/>
          </a:xfrm>
          <a:custGeom>
            <a:avLst/>
            <a:gdLst/>
            <a:ahLst/>
            <a:cxnLst/>
            <a:rect r="r" b="b" t="t" l="l"/>
            <a:pathLst>
              <a:path h="2597724" w="4971721">
                <a:moveTo>
                  <a:pt x="0" y="0"/>
                </a:moveTo>
                <a:lnTo>
                  <a:pt x="4971720" y="0"/>
                </a:lnTo>
                <a:lnTo>
                  <a:pt x="4971720" y="2597724"/>
                </a:lnTo>
                <a:lnTo>
                  <a:pt x="0" y="259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96733" y="399148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5" y="0"/>
                </a:lnTo>
                <a:lnTo>
                  <a:pt x="5725845" y="842878"/>
                </a:lnTo>
                <a:lnTo>
                  <a:pt x="0" y="842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90730" y="-612233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0" y="0"/>
                </a:lnTo>
                <a:lnTo>
                  <a:pt x="2865640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046407" y="2253408"/>
            <a:ext cx="5287737" cy="10393587"/>
          </a:xfrm>
          <a:custGeom>
            <a:avLst/>
            <a:gdLst/>
            <a:ahLst/>
            <a:cxnLst/>
            <a:rect r="r" b="b" t="t" l="l"/>
            <a:pathLst>
              <a:path h="10393587" w="5287737">
                <a:moveTo>
                  <a:pt x="0" y="0"/>
                </a:moveTo>
                <a:lnTo>
                  <a:pt x="5287738" y="0"/>
                </a:lnTo>
                <a:lnTo>
                  <a:pt x="5287738" y="10393586"/>
                </a:lnTo>
                <a:lnTo>
                  <a:pt x="0" y="103935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2161" y="3196789"/>
            <a:ext cx="2974246" cy="2974246"/>
          </a:xfrm>
          <a:custGeom>
            <a:avLst/>
            <a:gdLst/>
            <a:ahLst/>
            <a:cxnLst/>
            <a:rect r="r" b="b" t="t" l="l"/>
            <a:pathLst>
              <a:path h="2974246" w="2974246">
                <a:moveTo>
                  <a:pt x="0" y="0"/>
                </a:moveTo>
                <a:lnTo>
                  <a:pt x="2974246" y="0"/>
                </a:lnTo>
                <a:lnTo>
                  <a:pt x="2974246" y="2974246"/>
                </a:lnTo>
                <a:lnTo>
                  <a:pt x="0" y="2974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3433" y="3716273"/>
            <a:ext cx="4359146" cy="2179573"/>
          </a:xfrm>
          <a:custGeom>
            <a:avLst/>
            <a:gdLst/>
            <a:ahLst/>
            <a:cxnLst/>
            <a:rect r="r" b="b" t="t" l="l"/>
            <a:pathLst>
              <a:path h="2179573" w="4359146">
                <a:moveTo>
                  <a:pt x="0" y="0"/>
                </a:moveTo>
                <a:lnTo>
                  <a:pt x="4359145" y="0"/>
                </a:lnTo>
                <a:lnTo>
                  <a:pt x="4359145" y="2179573"/>
                </a:lnTo>
                <a:lnTo>
                  <a:pt x="0" y="21795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6733" y="1872588"/>
            <a:ext cx="14147226" cy="20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9"/>
              </a:lnSpc>
              <a:spcBef>
                <a:spcPct val="0"/>
              </a:spcBef>
            </a:pPr>
            <a:r>
              <a:rPr lang="en-US" b="true" sz="394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METODOLOGÍA DE TRABAJO</a:t>
            </a:r>
          </a:p>
          <a:p>
            <a:pPr algn="ctr">
              <a:lnSpc>
                <a:spcPts val="3949"/>
              </a:lnSpc>
              <a:spcBef>
                <a:spcPct val="0"/>
              </a:spcBef>
            </a:pPr>
            <a:r>
              <a:rPr lang="en-US" b="true" sz="394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EJECUCIÓN ÁGIL PARA UN DESARROLLO ITERATIVO Y COLABORATIVO.</a:t>
            </a:r>
          </a:p>
          <a:p>
            <a:pPr algn="ctr">
              <a:lnSpc>
                <a:spcPts val="394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874133" y="5539083"/>
            <a:ext cx="7523763" cy="18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Gestión Visual (</a:t>
            </a: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Trello)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Transparencia en el flujo de trabajo mediante tableros Kanban para seguimiento de tareas (Backlog, Doing, Done).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74234" y="7753963"/>
            <a:ext cx="12799797" cy="229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Roles D</a:t>
            </a:r>
            <a:r>
              <a:rPr lang="en-US" b="true" sz="24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efinidos</a:t>
            </a:r>
          </a:p>
          <a:p>
            <a:pPr algn="ctr">
              <a:lnSpc>
                <a:spcPts val="2499"/>
              </a:lnSpc>
              <a:spcBef>
                <a:spcPct val="0"/>
              </a:spcBef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Colaboración clara: Product Owner define prioridades, Scrum Master facilita, Equipo de Desarrollo ejecuta.</a:t>
            </a:r>
          </a:p>
          <a:p>
            <a:pPr algn="ctr">
              <a:lnSpc>
                <a:spcPts val="770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61965" y="5665184"/>
            <a:ext cx="5728765" cy="171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Agile Scrum</a:t>
            </a:r>
          </a:p>
          <a:p>
            <a:pPr algn="ctr">
              <a:lnSpc>
                <a:spcPts val="2499"/>
              </a:lnSpc>
            </a:p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Trabajo en Sprints de 2 semanas con ceremonias (Dailies, Reviews) para entrega continua de valor.</a:t>
            </a:r>
          </a:p>
          <a:p>
            <a:pPr algn="ctr">
              <a:lnSpc>
                <a:spcPts val="137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709100" y="5551121"/>
            <a:ext cx="5498844" cy="3972915"/>
          </a:xfrm>
          <a:custGeom>
            <a:avLst/>
            <a:gdLst/>
            <a:ahLst/>
            <a:cxnLst/>
            <a:rect r="r" b="b" t="t" l="l"/>
            <a:pathLst>
              <a:path h="3972915" w="5498844">
                <a:moveTo>
                  <a:pt x="5498844" y="0"/>
                </a:moveTo>
                <a:lnTo>
                  <a:pt x="0" y="0"/>
                </a:lnTo>
                <a:lnTo>
                  <a:pt x="0" y="3972914"/>
                </a:lnTo>
                <a:lnTo>
                  <a:pt x="5498844" y="3972914"/>
                </a:lnTo>
                <a:lnTo>
                  <a:pt x="54988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03278" y="2602672"/>
            <a:ext cx="4971721" cy="2597724"/>
          </a:xfrm>
          <a:custGeom>
            <a:avLst/>
            <a:gdLst/>
            <a:ahLst/>
            <a:cxnLst/>
            <a:rect r="r" b="b" t="t" l="l"/>
            <a:pathLst>
              <a:path h="2597724" w="4971721">
                <a:moveTo>
                  <a:pt x="0" y="0"/>
                </a:moveTo>
                <a:lnTo>
                  <a:pt x="4971720" y="0"/>
                </a:lnTo>
                <a:lnTo>
                  <a:pt x="4971720" y="2597724"/>
                </a:lnTo>
                <a:lnTo>
                  <a:pt x="0" y="259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185822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8"/>
                </a:lnTo>
                <a:lnTo>
                  <a:pt x="0" y="842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83497" y="2746916"/>
            <a:ext cx="3166950" cy="6266355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964" r="0" b="-964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244165" y="2746916"/>
            <a:ext cx="3166950" cy="6266355"/>
            <a:chOff x="0" y="0"/>
            <a:chExt cx="2620010" cy="518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-1614" t="0" r="-1614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841268" y="1850860"/>
            <a:ext cx="1851408" cy="625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LOGIN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50447" y="1899835"/>
            <a:ext cx="5017267" cy="57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24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PAGINA REGISTRO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9367714" y="2746916"/>
            <a:ext cx="3166950" cy="6266355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104" r="0" b="-1104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3487164" y="2746916"/>
            <a:ext cx="3166950" cy="6266355"/>
            <a:chOff x="0" y="0"/>
            <a:chExt cx="2620010" cy="51841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840" t="0" r="-840" b="0"/>
              </a:stretch>
            </a:blip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9996201" y="1927584"/>
            <a:ext cx="1909975" cy="576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24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PERFIL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270733" y="1482349"/>
            <a:ext cx="5017267" cy="111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424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RECUPERAR CONTRASEÑA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709100" y="5551121"/>
            <a:ext cx="5498844" cy="3972915"/>
          </a:xfrm>
          <a:custGeom>
            <a:avLst/>
            <a:gdLst/>
            <a:ahLst/>
            <a:cxnLst/>
            <a:rect r="r" b="b" t="t" l="l"/>
            <a:pathLst>
              <a:path h="3972915" w="5498844">
                <a:moveTo>
                  <a:pt x="5498844" y="0"/>
                </a:moveTo>
                <a:lnTo>
                  <a:pt x="0" y="0"/>
                </a:lnTo>
                <a:lnTo>
                  <a:pt x="0" y="3972914"/>
                </a:lnTo>
                <a:lnTo>
                  <a:pt x="5498844" y="3972914"/>
                </a:lnTo>
                <a:lnTo>
                  <a:pt x="54988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03278" y="2602672"/>
            <a:ext cx="4971721" cy="2597724"/>
          </a:xfrm>
          <a:custGeom>
            <a:avLst/>
            <a:gdLst/>
            <a:ahLst/>
            <a:cxnLst/>
            <a:rect r="r" b="b" t="t" l="l"/>
            <a:pathLst>
              <a:path h="2597724" w="4971721">
                <a:moveTo>
                  <a:pt x="0" y="0"/>
                </a:moveTo>
                <a:lnTo>
                  <a:pt x="4971720" y="0"/>
                </a:lnTo>
                <a:lnTo>
                  <a:pt x="4971720" y="2597724"/>
                </a:lnTo>
                <a:lnTo>
                  <a:pt x="0" y="259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24754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0" y="0"/>
                </a:lnTo>
                <a:lnTo>
                  <a:pt x="2865640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08249" y="3107749"/>
            <a:ext cx="2035751" cy="2035751"/>
          </a:xfrm>
          <a:custGeom>
            <a:avLst/>
            <a:gdLst/>
            <a:ahLst/>
            <a:cxnLst/>
            <a:rect r="r" b="b" t="t" l="l"/>
            <a:pathLst>
              <a:path h="2035751" w="2035751">
                <a:moveTo>
                  <a:pt x="0" y="0"/>
                </a:moveTo>
                <a:lnTo>
                  <a:pt x="2035751" y="0"/>
                </a:lnTo>
                <a:lnTo>
                  <a:pt x="2035751" y="2035751"/>
                </a:lnTo>
                <a:lnTo>
                  <a:pt x="0" y="2035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0875" y="2913543"/>
            <a:ext cx="2424162" cy="2424162"/>
          </a:xfrm>
          <a:custGeom>
            <a:avLst/>
            <a:gdLst/>
            <a:ahLst/>
            <a:cxnLst/>
            <a:rect r="r" b="b" t="t" l="l"/>
            <a:pathLst>
              <a:path h="2424162" w="2424162">
                <a:moveTo>
                  <a:pt x="0" y="0"/>
                </a:moveTo>
                <a:lnTo>
                  <a:pt x="2424162" y="0"/>
                </a:lnTo>
                <a:lnTo>
                  <a:pt x="2424162" y="2424162"/>
                </a:lnTo>
                <a:lnTo>
                  <a:pt x="0" y="24241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45538" y="3222282"/>
            <a:ext cx="3779216" cy="2190664"/>
          </a:xfrm>
          <a:custGeom>
            <a:avLst/>
            <a:gdLst/>
            <a:ahLst/>
            <a:cxnLst/>
            <a:rect r="r" b="b" t="t" l="l"/>
            <a:pathLst>
              <a:path h="2190664" w="3779216">
                <a:moveTo>
                  <a:pt x="0" y="0"/>
                </a:moveTo>
                <a:lnTo>
                  <a:pt x="3779216" y="0"/>
                </a:lnTo>
                <a:lnTo>
                  <a:pt x="3779216" y="2190664"/>
                </a:lnTo>
                <a:lnTo>
                  <a:pt x="0" y="21906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8076" y="5995212"/>
            <a:ext cx="593392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Frontend: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Ionic + Angular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Desarrollo híbrido para un despliegue rápido y nativo en dispositivos Android.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73914" y="1473021"/>
            <a:ext cx="16615224" cy="1205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8"/>
              </a:lnSpc>
              <a:spcBef>
                <a:spcPct val="0"/>
              </a:spcBef>
            </a:pPr>
            <a:r>
              <a:rPr lang="en-US" b="true" sz="4578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ARQUITECTURA TÉCNICA (MVP)</a:t>
            </a:r>
          </a:p>
          <a:p>
            <a:pPr algn="ctr">
              <a:lnSpc>
                <a:spcPts val="4578"/>
              </a:lnSpc>
              <a:spcBef>
                <a:spcPct val="0"/>
              </a:spcBef>
            </a:pPr>
            <a:r>
              <a:rPr lang="en-US" b="true" sz="4578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STACK TECNOLÓGICO MODERNO, ESCALABLE Y ROBUSTO.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02073" y="6004737"/>
            <a:ext cx="4698018" cy="178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  <a:spcBef>
                <a:spcPct val="0"/>
              </a:spcBef>
            </a:pPr>
            <a:r>
              <a:rPr lang="en-US" b="true" sz="239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Backend:</a:t>
            </a:r>
          </a:p>
          <a:p>
            <a:pPr algn="l">
              <a:lnSpc>
                <a:spcPts val="2393"/>
              </a:lnSpc>
              <a:spcBef>
                <a:spcPct val="0"/>
              </a:spcBef>
            </a:pPr>
          </a:p>
          <a:p>
            <a:pPr algn="l">
              <a:lnSpc>
                <a:spcPts val="2393"/>
              </a:lnSpc>
              <a:spcBef>
                <a:spcPct val="0"/>
              </a:spcBef>
            </a:pPr>
            <a:r>
              <a:rPr lang="en-US" sz="239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Firebase Base de datos NoSQL en tiempo real (Firestore) y servicio de autenticación seguro.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5538" y="5995212"/>
            <a:ext cx="5543600" cy="149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  <a:spcBef>
                <a:spcPct val="0"/>
              </a:spcBef>
            </a:pPr>
            <a:r>
              <a:rPr lang="en-US" b="true" sz="234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Versionamiento: </a:t>
            </a:r>
          </a:p>
          <a:p>
            <a:pPr algn="l">
              <a:lnSpc>
                <a:spcPts val="2341"/>
              </a:lnSpc>
              <a:spcBef>
                <a:spcPct val="0"/>
              </a:spcBef>
            </a:pPr>
          </a:p>
          <a:p>
            <a:pPr algn="l">
              <a:lnSpc>
                <a:spcPts val="2341"/>
              </a:lnSpc>
              <a:spcBef>
                <a:spcPct val="0"/>
              </a:spcBef>
            </a:pPr>
            <a:r>
              <a:rPr lang="en-US" sz="234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Git/GitHub Control de versiones con flujo de trabajo basado en ramas (Gitflow) para integridad del código.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709100" y="5551121"/>
            <a:ext cx="5498844" cy="3972915"/>
          </a:xfrm>
          <a:custGeom>
            <a:avLst/>
            <a:gdLst/>
            <a:ahLst/>
            <a:cxnLst/>
            <a:rect r="r" b="b" t="t" l="l"/>
            <a:pathLst>
              <a:path h="3972915" w="5498844">
                <a:moveTo>
                  <a:pt x="5498844" y="0"/>
                </a:moveTo>
                <a:lnTo>
                  <a:pt x="0" y="0"/>
                </a:lnTo>
                <a:lnTo>
                  <a:pt x="0" y="3972914"/>
                </a:lnTo>
                <a:lnTo>
                  <a:pt x="5498844" y="3972914"/>
                </a:lnTo>
                <a:lnTo>
                  <a:pt x="54988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03278" y="2602672"/>
            <a:ext cx="4971721" cy="2597724"/>
          </a:xfrm>
          <a:custGeom>
            <a:avLst/>
            <a:gdLst/>
            <a:ahLst/>
            <a:cxnLst/>
            <a:rect r="r" b="b" t="t" l="l"/>
            <a:pathLst>
              <a:path h="2597724" w="4971721">
                <a:moveTo>
                  <a:pt x="0" y="0"/>
                </a:moveTo>
                <a:lnTo>
                  <a:pt x="4971720" y="0"/>
                </a:lnTo>
                <a:lnTo>
                  <a:pt x="4971720" y="2597724"/>
                </a:lnTo>
                <a:lnTo>
                  <a:pt x="0" y="259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3642" y="4034884"/>
            <a:ext cx="10588422" cy="193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9"/>
              </a:lnSpc>
              <a:spcBef>
                <a:spcPct val="0"/>
              </a:spcBef>
            </a:pPr>
            <a:r>
              <a:rPr lang="en-US" b="true" sz="745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Demostración del MVP</a:t>
            </a:r>
          </a:p>
          <a:p>
            <a:pPr algn="ctr">
              <a:lnSpc>
                <a:spcPts val="74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57099" y="5896340"/>
            <a:ext cx="11373802" cy="16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sz="424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Presentando funcionalidades en vivo...</a:t>
            </a:r>
          </a:p>
          <a:p>
            <a:pPr algn="ctr">
              <a:lnSpc>
                <a:spcPts val="4240"/>
              </a:lnSpc>
              <a:spcBef>
                <a:spcPct val="0"/>
              </a:spcBef>
            </a:pPr>
          </a:p>
          <a:p>
            <a:pPr algn="ctr">
              <a:lnSpc>
                <a:spcPts val="4240"/>
              </a:lnSpc>
              <a:spcBef>
                <a:spcPct val="0"/>
              </a:spcBef>
            </a:pPr>
            <a:r>
              <a:rPr lang="en-US" sz="424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(Autenticación | CRUD Huevos | Sincronización)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709100" y="5551121"/>
            <a:ext cx="5498844" cy="3972915"/>
          </a:xfrm>
          <a:custGeom>
            <a:avLst/>
            <a:gdLst/>
            <a:ahLst/>
            <a:cxnLst/>
            <a:rect r="r" b="b" t="t" l="l"/>
            <a:pathLst>
              <a:path h="3972915" w="5498844">
                <a:moveTo>
                  <a:pt x="5498844" y="0"/>
                </a:moveTo>
                <a:lnTo>
                  <a:pt x="0" y="0"/>
                </a:lnTo>
                <a:lnTo>
                  <a:pt x="0" y="3972914"/>
                </a:lnTo>
                <a:lnTo>
                  <a:pt x="5498844" y="3972914"/>
                </a:lnTo>
                <a:lnTo>
                  <a:pt x="54988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503278" y="2602672"/>
            <a:ext cx="4971721" cy="2597724"/>
          </a:xfrm>
          <a:custGeom>
            <a:avLst/>
            <a:gdLst/>
            <a:ahLst/>
            <a:cxnLst/>
            <a:rect r="r" b="b" t="t" l="l"/>
            <a:pathLst>
              <a:path h="2597724" w="4971721">
                <a:moveTo>
                  <a:pt x="0" y="0"/>
                </a:moveTo>
                <a:lnTo>
                  <a:pt x="4971720" y="0"/>
                </a:lnTo>
                <a:lnTo>
                  <a:pt x="4971720" y="2597724"/>
                </a:lnTo>
                <a:lnTo>
                  <a:pt x="0" y="2597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926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6502073" y="1621273"/>
            <a:ext cx="4188088" cy="8286852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8" t="0" r="-8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147669" y="0"/>
            <a:ext cx="3141143" cy="1641247"/>
          </a:xfrm>
          <a:custGeom>
            <a:avLst/>
            <a:gdLst/>
            <a:ahLst/>
            <a:cxnLst/>
            <a:rect r="r" b="b" t="t" l="l"/>
            <a:pathLst>
              <a:path h="1641247" w="3141143">
                <a:moveTo>
                  <a:pt x="0" y="0"/>
                </a:moveTo>
                <a:lnTo>
                  <a:pt x="3141144" y="0"/>
                </a:lnTo>
                <a:lnTo>
                  <a:pt x="3141144" y="1641247"/>
                </a:lnTo>
                <a:lnTo>
                  <a:pt x="0" y="1641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853015" y="-53293"/>
            <a:ext cx="5287737" cy="10393587"/>
          </a:xfrm>
          <a:custGeom>
            <a:avLst/>
            <a:gdLst/>
            <a:ahLst/>
            <a:cxnLst/>
            <a:rect r="r" b="b" t="t" l="l"/>
            <a:pathLst>
              <a:path h="10393587" w="5287737">
                <a:moveTo>
                  <a:pt x="0" y="0"/>
                </a:moveTo>
                <a:lnTo>
                  <a:pt x="5287737" y="0"/>
                </a:lnTo>
                <a:lnTo>
                  <a:pt x="5287737" y="10393586"/>
                </a:lnTo>
                <a:lnTo>
                  <a:pt x="0" y="103935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785276"/>
            <a:ext cx="7327641" cy="3752325"/>
            <a:chOff x="0" y="0"/>
            <a:chExt cx="1135243" cy="581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243" cy="581333"/>
            </a:xfrm>
            <a:custGeom>
              <a:avLst/>
              <a:gdLst/>
              <a:ahLst/>
              <a:cxnLst/>
              <a:rect r="r" b="b" t="t" l="l"/>
              <a:pathLst>
                <a:path h="581333" w="1135243">
                  <a:moveTo>
                    <a:pt x="0" y="0"/>
                  </a:moveTo>
                  <a:lnTo>
                    <a:pt x="1135243" y="0"/>
                  </a:lnTo>
                  <a:lnTo>
                    <a:pt x="1135243" y="581333"/>
                  </a:lnTo>
                  <a:lnTo>
                    <a:pt x="0" y="581333"/>
                  </a:lnTo>
                  <a:close/>
                </a:path>
              </a:pathLst>
            </a:custGeom>
            <a:blipFill>
              <a:blip r:embed="rId6"/>
              <a:stretch>
                <a:fillRect l="0" t="-13378" r="0" b="-13378"/>
              </a:stretch>
            </a:blipFill>
            <a:ln w="2286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147657" y="8774525"/>
            <a:ext cx="2140343" cy="1546398"/>
          </a:xfrm>
          <a:custGeom>
            <a:avLst/>
            <a:gdLst/>
            <a:ahLst/>
            <a:cxnLst/>
            <a:rect r="r" b="b" t="t" l="l"/>
            <a:pathLst>
              <a:path h="1546398" w="2140343">
                <a:moveTo>
                  <a:pt x="0" y="0"/>
                </a:moveTo>
                <a:lnTo>
                  <a:pt x="2140343" y="0"/>
                </a:lnTo>
                <a:lnTo>
                  <a:pt x="2140343" y="1546398"/>
                </a:lnTo>
                <a:lnTo>
                  <a:pt x="0" y="1546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01760" y="2338452"/>
            <a:ext cx="8257540" cy="168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640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CONCLUSIONES Y REFLEXIÓN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001760" y="388943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8"/>
                </a:lnTo>
                <a:lnTo>
                  <a:pt x="0" y="8428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292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95757" y="-622439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0" y="0"/>
                </a:lnTo>
                <a:lnTo>
                  <a:pt x="2865640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01760" y="4987039"/>
            <a:ext cx="8303588" cy="401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01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Valor agregado para Ariztia y desarrollo profesional.</a:t>
            </a:r>
          </a:p>
          <a:p>
            <a:pPr algn="l">
              <a:lnSpc>
                <a:spcPts val="4356"/>
              </a:lnSpc>
            </a:pPr>
          </a:p>
          <a:p>
            <a:pPr algn="ctr">
              <a:lnSpc>
                <a:spcPts val="4356"/>
              </a:lnSpc>
            </a:pPr>
            <a:r>
              <a:rPr lang="en-US" sz="31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"Avi</a:t>
            </a:r>
            <a:r>
              <a:rPr lang="en-US" sz="31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colApp no solo moderniza un proceso crít</a:t>
            </a:r>
            <a:r>
              <a:rPr lang="en-US" sz="3111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ico, sino que demuestra cómo la tecnología, bien aplicada, empodera a los operarios y genera datos estratégicos para la compañía."</a:t>
            </a:r>
          </a:p>
          <a:p>
            <a:pPr algn="l">
              <a:lnSpc>
                <a:spcPts val="2816"/>
              </a:lnSpc>
            </a:pPr>
            <a:r>
              <a:rPr lang="en-US" sz="201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148335" y="4061507"/>
            <a:ext cx="5287737" cy="10393587"/>
          </a:xfrm>
          <a:custGeom>
            <a:avLst/>
            <a:gdLst/>
            <a:ahLst/>
            <a:cxnLst/>
            <a:rect r="r" b="b" t="t" l="l"/>
            <a:pathLst>
              <a:path h="10393587" w="5287737">
                <a:moveTo>
                  <a:pt x="0" y="0"/>
                </a:moveTo>
                <a:lnTo>
                  <a:pt x="5287738" y="0"/>
                </a:lnTo>
                <a:lnTo>
                  <a:pt x="5287738" y="10393586"/>
                </a:lnTo>
                <a:lnTo>
                  <a:pt x="0" y="1039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88997" y="0"/>
            <a:ext cx="8299003" cy="10287000"/>
            <a:chOff x="0" y="0"/>
            <a:chExt cx="1358228" cy="1683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8228" cy="1683586"/>
            </a:xfrm>
            <a:custGeom>
              <a:avLst/>
              <a:gdLst/>
              <a:ahLst/>
              <a:cxnLst/>
              <a:rect r="r" b="b" t="t" l="l"/>
              <a:pathLst>
                <a:path h="1683586" w="1358228">
                  <a:moveTo>
                    <a:pt x="0" y="0"/>
                  </a:moveTo>
                  <a:lnTo>
                    <a:pt x="1358228" y="0"/>
                  </a:lnTo>
                  <a:lnTo>
                    <a:pt x="1358228" y="1683586"/>
                  </a:lnTo>
                  <a:lnTo>
                    <a:pt x="0" y="1683586"/>
                  </a:lnTo>
                  <a:close/>
                </a:path>
              </a:pathLst>
            </a:custGeom>
            <a:blipFill>
              <a:blip r:embed="rId4"/>
              <a:stretch>
                <a:fillRect l="-42881" t="0" r="-4288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36258" y="3298244"/>
            <a:ext cx="6379269" cy="279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00"/>
              </a:lnSpc>
            </a:pPr>
            <a:r>
              <a:rPr lang="en-US" sz="10600" b="true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MUCHAS GRACIAS!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08076" y="328039"/>
            <a:ext cx="5725846" cy="842878"/>
          </a:xfrm>
          <a:custGeom>
            <a:avLst/>
            <a:gdLst/>
            <a:ahLst/>
            <a:cxnLst/>
            <a:rect r="r" b="b" t="t" l="l"/>
            <a:pathLst>
              <a:path h="842878" w="5725846">
                <a:moveTo>
                  <a:pt x="0" y="0"/>
                </a:moveTo>
                <a:lnTo>
                  <a:pt x="5725846" y="0"/>
                </a:lnTo>
                <a:lnTo>
                  <a:pt x="5725846" y="842879"/>
                </a:lnTo>
                <a:lnTo>
                  <a:pt x="0" y="842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92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02073" y="-683342"/>
            <a:ext cx="2865640" cy="2865640"/>
          </a:xfrm>
          <a:custGeom>
            <a:avLst/>
            <a:gdLst/>
            <a:ahLst/>
            <a:cxnLst/>
            <a:rect r="r" b="b" t="t" l="l"/>
            <a:pathLst>
              <a:path h="2865640" w="2865640">
                <a:moveTo>
                  <a:pt x="0" y="0"/>
                </a:moveTo>
                <a:lnTo>
                  <a:pt x="2865641" y="0"/>
                </a:lnTo>
                <a:lnTo>
                  <a:pt x="2865641" y="2865641"/>
                </a:lnTo>
                <a:lnTo>
                  <a:pt x="0" y="2865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DAG10ccbIc0</dc:identifier>
  <dcterms:modified xsi:type="dcterms:W3CDTF">2011-08-01T06:04:30Z</dcterms:modified>
  <cp:revision>1</cp:revision>
  <dc:title>Proyecto-Apt-Avicola02</dc:title>
</cp:coreProperties>
</file>